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C34E5-37F2-F0B7-1F0E-1E44C196731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ADD464E-5267-6853-7756-28A77BD0B59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E3B7086-F52C-71A7-D935-A83840FAEB79}"/>
              </a:ext>
            </a:extLst>
          </p:cNvPr>
          <p:cNvSpPr>
            <a:spLocks noGrp="1"/>
          </p:cNvSpPr>
          <p:nvPr>
            <p:ph type="dt" sz="half" idx="10"/>
          </p:nvPr>
        </p:nvSpPr>
        <p:spPr/>
        <p:txBody>
          <a:bodyPr/>
          <a:lstStyle/>
          <a:p>
            <a:fld id="{62FE1D97-69E3-41D8-9CB2-3866F86B8D03}" type="datetimeFigureOut">
              <a:rPr lang="en-IN" smtClean="0"/>
              <a:t>13-10-2025</a:t>
            </a:fld>
            <a:endParaRPr lang="en-IN"/>
          </a:p>
        </p:txBody>
      </p:sp>
      <p:sp>
        <p:nvSpPr>
          <p:cNvPr id="5" name="Footer Placeholder 4">
            <a:extLst>
              <a:ext uri="{FF2B5EF4-FFF2-40B4-BE49-F238E27FC236}">
                <a16:creationId xmlns:a16="http://schemas.microsoft.com/office/drawing/2014/main" id="{0892B70A-518D-F7F7-9CE7-15C4634B426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51D8504-B686-9977-4A12-DA9329219F7C}"/>
              </a:ext>
            </a:extLst>
          </p:cNvPr>
          <p:cNvSpPr>
            <a:spLocks noGrp="1"/>
          </p:cNvSpPr>
          <p:nvPr>
            <p:ph type="sldNum" sz="quarter" idx="12"/>
          </p:nvPr>
        </p:nvSpPr>
        <p:spPr/>
        <p:txBody>
          <a:bodyPr/>
          <a:lstStyle/>
          <a:p>
            <a:fld id="{F7DA6C3A-EB24-4642-82F7-2D7C7DBFC842}" type="slidenum">
              <a:rPr lang="en-IN" smtClean="0"/>
              <a:t>‹#›</a:t>
            </a:fld>
            <a:endParaRPr lang="en-IN"/>
          </a:p>
        </p:txBody>
      </p:sp>
    </p:spTree>
    <p:extLst>
      <p:ext uri="{BB962C8B-B14F-4D97-AF65-F5344CB8AC3E}">
        <p14:creationId xmlns:p14="http://schemas.microsoft.com/office/powerpoint/2010/main" val="38755007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D7987-4A5B-9F51-E37A-45CB51D8CAA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4E7921F-A032-86EA-DD6E-6754BA1DCFD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F1690CE-6958-87D5-DBE7-EABEC753AB59}"/>
              </a:ext>
            </a:extLst>
          </p:cNvPr>
          <p:cNvSpPr>
            <a:spLocks noGrp="1"/>
          </p:cNvSpPr>
          <p:nvPr>
            <p:ph type="dt" sz="half" idx="10"/>
          </p:nvPr>
        </p:nvSpPr>
        <p:spPr/>
        <p:txBody>
          <a:bodyPr/>
          <a:lstStyle/>
          <a:p>
            <a:fld id="{62FE1D97-69E3-41D8-9CB2-3866F86B8D03}" type="datetimeFigureOut">
              <a:rPr lang="en-IN" smtClean="0"/>
              <a:t>13-10-2025</a:t>
            </a:fld>
            <a:endParaRPr lang="en-IN"/>
          </a:p>
        </p:txBody>
      </p:sp>
      <p:sp>
        <p:nvSpPr>
          <p:cNvPr id="5" name="Footer Placeholder 4">
            <a:extLst>
              <a:ext uri="{FF2B5EF4-FFF2-40B4-BE49-F238E27FC236}">
                <a16:creationId xmlns:a16="http://schemas.microsoft.com/office/drawing/2014/main" id="{BB15C942-D6EF-3746-5A07-3A1A6455092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0E9E2E5-AC2F-0CED-B06A-B9DDFA6C9453}"/>
              </a:ext>
            </a:extLst>
          </p:cNvPr>
          <p:cNvSpPr>
            <a:spLocks noGrp="1"/>
          </p:cNvSpPr>
          <p:nvPr>
            <p:ph type="sldNum" sz="quarter" idx="12"/>
          </p:nvPr>
        </p:nvSpPr>
        <p:spPr/>
        <p:txBody>
          <a:bodyPr/>
          <a:lstStyle/>
          <a:p>
            <a:fld id="{F7DA6C3A-EB24-4642-82F7-2D7C7DBFC842}" type="slidenum">
              <a:rPr lang="en-IN" smtClean="0"/>
              <a:t>‹#›</a:t>
            </a:fld>
            <a:endParaRPr lang="en-IN"/>
          </a:p>
        </p:txBody>
      </p:sp>
    </p:spTree>
    <p:extLst>
      <p:ext uri="{BB962C8B-B14F-4D97-AF65-F5344CB8AC3E}">
        <p14:creationId xmlns:p14="http://schemas.microsoft.com/office/powerpoint/2010/main" val="37406569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FACC9-D282-7B6B-257A-4306288D893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6734A9B-F5F3-DF1C-6D46-33C894ADD27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0289A1-43DE-9E74-278E-357D0FAB6FE5}"/>
              </a:ext>
            </a:extLst>
          </p:cNvPr>
          <p:cNvSpPr>
            <a:spLocks noGrp="1"/>
          </p:cNvSpPr>
          <p:nvPr>
            <p:ph type="dt" sz="half" idx="10"/>
          </p:nvPr>
        </p:nvSpPr>
        <p:spPr/>
        <p:txBody>
          <a:bodyPr/>
          <a:lstStyle/>
          <a:p>
            <a:fld id="{62FE1D97-69E3-41D8-9CB2-3866F86B8D03}" type="datetimeFigureOut">
              <a:rPr lang="en-IN" smtClean="0"/>
              <a:t>13-10-2025</a:t>
            </a:fld>
            <a:endParaRPr lang="en-IN"/>
          </a:p>
        </p:txBody>
      </p:sp>
      <p:sp>
        <p:nvSpPr>
          <p:cNvPr id="5" name="Footer Placeholder 4">
            <a:extLst>
              <a:ext uri="{FF2B5EF4-FFF2-40B4-BE49-F238E27FC236}">
                <a16:creationId xmlns:a16="http://schemas.microsoft.com/office/drawing/2014/main" id="{4877FBD6-8FBE-5717-905A-F3378A53A60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1405233-E144-4EAC-E9D3-955E018CECAF}"/>
              </a:ext>
            </a:extLst>
          </p:cNvPr>
          <p:cNvSpPr>
            <a:spLocks noGrp="1"/>
          </p:cNvSpPr>
          <p:nvPr>
            <p:ph type="sldNum" sz="quarter" idx="12"/>
          </p:nvPr>
        </p:nvSpPr>
        <p:spPr/>
        <p:txBody>
          <a:bodyPr/>
          <a:lstStyle/>
          <a:p>
            <a:fld id="{F7DA6C3A-EB24-4642-82F7-2D7C7DBFC842}" type="slidenum">
              <a:rPr lang="en-IN" smtClean="0"/>
              <a:t>‹#›</a:t>
            </a:fld>
            <a:endParaRPr lang="en-IN"/>
          </a:p>
        </p:txBody>
      </p:sp>
    </p:spTree>
    <p:extLst>
      <p:ext uri="{BB962C8B-B14F-4D97-AF65-F5344CB8AC3E}">
        <p14:creationId xmlns:p14="http://schemas.microsoft.com/office/powerpoint/2010/main" val="40037180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7AFDC-217E-111B-635A-DBAD0C81BB3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FF3C931-AF0B-65A4-083B-E469277433F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EB785AF-BEE9-12C4-C92E-B3C7768079F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D2FFDA7-6526-11C6-3B69-B5B2D752385F}"/>
              </a:ext>
            </a:extLst>
          </p:cNvPr>
          <p:cNvSpPr>
            <a:spLocks noGrp="1"/>
          </p:cNvSpPr>
          <p:nvPr>
            <p:ph type="dt" sz="half" idx="10"/>
          </p:nvPr>
        </p:nvSpPr>
        <p:spPr/>
        <p:txBody>
          <a:bodyPr/>
          <a:lstStyle/>
          <a:p>
            <a:fld id="{62FE1D97-69E3-41D8-9CB2-3866F86B8D03}" type="datetimeFigureOut">
              <a:rPr lang="en-IN" smtClean="0"/>
              <a:t>13-10-2025</a:t>
            </a:fld>
            <a:endParaRPr lang="en-IN"/>
          </a:p>
        </p:txBody>
      </p:sp>
      <p:sp>
        <p:nvSpPr>
          <p:cNvPr id="6" name="Footer Placeholder 5">
            <a:extLst>
              <a:ext uri="{FF2B5EF4-FFF2-40B4-BE49-F238E27FC236}">
                <a16:creationId xmlns:a16="http://schemas.microsoft.com/office/drawing/2014/main" id="{157F75D8-2969-9AD8-1EED-5FD512D9BD0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0A9DC08-E3D7-B628-6AF8-AE9362DAB582}"/>
              </a:ext>
            </a:extLst>
          </p:cNvPr>
          <p:cNvSpPr>
            <a:spLocks noGrp="1"/>
          </p:cNvSpPr>
          <p:nvPr>
            <p:ph type="sldNum" sz="quarter" idx="12"/>
          </p:nvPr>
        </p:nvSpPr>
        <p:spPr/>
        <p:txBody>
          <a:bodyPr/>
          <a:lstStyle/>
          <a:p>
            <a:fld id="{F7DA6C3A-EB24-4642-82F7-2D7C7DBFC842}" type="slidenum">
              <a:rPr lang="en-IN" smtClean="0"/>
              <a:t>‹#›</a:t>
            </a:fld>
            <a:endParaRPr lang="en-IN"/>
          </a:p>
        </p:txBody>
      </p:sp>
    </p:spTree>
    <p:extLst>
      <p:ext uri="{BB962C8B-B14F-4D97-AF65-F5344CB8AC3E}">
        <p14:creationId xmlns:p14="http://schemas.microsoft.com/office/powerpoint/2010/main" val="20064624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B9677-101B-C488-A016-F47B558813E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24BA8F2-3EA8-34F8-AA0D-F3E5CA469C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ED5B936-FAE5-5B49-68DC-4767007181C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1FF0A60-E003-9981-E599-969564189D0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FF9261E-17B0-BDE6-FEE5-F6482684D44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79B9A59-47F6-20BA-32FB-80AB6FD55E11}"/>
              </a:ext>
            </a:extLst>
          </p:cNvPr>
          <p:cNvSpPr>
            <a:spLocks noGrp="1"/>
          </p:cNvSpPr>
          <p:nvPr>
            <p:ph type="dt" sz="half" idx="10"/>
          </p:nvPr>
        </p:nvSpPr>
        <p:spPr/>
        <p:txBody>
          <a:bodyPr/>
          <a:lstStyle/>
          <a:p>
            <a:fld id="{62FE1D97-69E3-41D8-9CB2-3866F86B8D03}" type="datetimeFigureOut">
              <a:rPr lang="en-IN" smtClean="0"/>
              <a:t>13-10-2025</a:t>
            </a:fld>
            <a:endParaRPr lang="en-IN"/>
          </a:p>
        </p:txBody>
      </p:sp>
      <p:sp>
        <p:nvSpPr>
          <p:cNvPr id="8" name="Footer Placeholder 7">
            <a:extLst>
              <a:ext uri="{FF2B5EF4-FFF2-40B4-BE49-F238E27FC236}">
                <a16:creationId xmlns:a16="http://schemas.microsoft.com/office/drawing/2014/main" id="{108C561E-D28F-3AED-A63D-90CA8476A80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A904B1D-FAF3-E456-1909-C1C73713F29C}"/>
              </a:ext>
            </a:extLst>
          </p:cNvPr>
          <p:cNvSpPr>
            <a:spLocks noGrp="1"/>
          </p:cNvSpPr>
          <p:nvPr>
            <p:ph type="sldNum" sz="quarter" idx="12"/>
          </p:nvPr>
        </p:nvSpPr>
        <p:spPr/>
        <p:txBody>
          <a:bodyPr/>
          <a:lstStyle/>
          <a:p>
            <a:fld id="{F7DA6C3A-EB24-4642-82F7-2D7C7DBFC842}" type="slidenum">
              <a:rPr lang="en-IN" smtClean="0"/>
              <a:t>‹#›</a:t>
            </a:fld>
            <a:endParaRPr lang="en-IN"/>
          </a:p>
        </p:txBody>
      </p:sp>
    </p:spTree>
    <p:extLst>
      <p:ext uri="{BB962C8B-B14F-4D97-AF65-F5344CB8AC3E}">
        <p14:creationId xmlns:p14="http://schemas.microsoft.com/office/powerpoint/2010/main" val="3069963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EE79C-41EB-1233-141E-18FB523EDA9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776DB92-C91E-6D0D-A0BC-6CB73EDA290C}"/>
              </a:ext>
            </a:extLst>
          </p:cNvPr>
          <p:cNvSpPr>
            <a:spLocks noGrp="1"/>
          </p:cNvSpPr>
          <p:nvPr>
            <p:ph type="dt" sz="half" idx="10"/>
          </p:nvPr>
        </p:nvSpPr>
        <p:spPr/>
        <p:txBody>
          <a:bodyPr/>
          <a:lstStyle/>
          <a:p>
            <a:fld id="{62FE1D97-69E3-41D8-9CB2-3866F86B8D03}" type="datetimeFigureOut">
              <a:rPr lang="en-IN" smtClean="0"/>
              <a:t>13-10-2025</a:t>
            </a:fld>
            <a:endParaRPr lang="en-IN"/>
          </a:p>
        </p:txBody>
      </p:sp>
      <p:sp>
        <p:nvSpPr>
          <p:cNvPr id="4" name="Footer Placeholder 3">
            <a:extLst>
              <a:ext uri="{FF2B5EF4-FFF2-40B4-BE49-F238E27FC236}">
                <a16:creationId xmlns:a16="http://schemas.microsoft.com/office/drawing/2014/main" id="{95F4806F-516F-C53D-9B19-219A3E875DE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D640807-E19D-E357-2391-22E06ACA1767}"/>
              </a:ext>
            </a:extLst>
          </p:cNvPr>
          <p:cNvSpPr>
            <a:spLocks noGrp="1"/>
          </p:cNvSpPr>
          <p:nvPr>
            <p:ph type="sldNum" sz="quarter" idx="12"/>
          </p:nvPr>
        </p:nvSpPr>
        <p:spPr/>
        <p:txBody>
          <a:bodyPr/>
          <a:lstStyle/>
          <a:p>
            <a:fld id="{F7DA6C3A-EB24-4642-82F7-2D7C7DBFC842}" type="slidenum">
              <a:rPr lang="en-IN" smtClean="0"/>
              <a:t>‹#›</a:t>
            </a:fld>
            <a:endParaRPr lang="en-IN"/>
          </a:p>
        </p:txBody>
      </p:sp>
    </p:spTree>
    <p:extLst>
      <p:ext uri="{BB962C8B-B14F-4D97-AF65-F5344CB8AC3E}">
        <p14:creationId xmlns:p14="http://schemas.microsoft.com/office/powerpoint/2010/main" val="19076860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50392BA-7AFE-8199-8D5C-FEC2F4E26AC5}"/>
              </a:ext>
            </a:extLst>
          </p:cNvPr>
          <p:cNvSpPr>
            <a:spLocks noGrp="1"/>
          </p:cNvSpPr>
          <p:nvPr>
            <p:ph type="dt" sz="half" idx="10"/>
          </p:nvPr>
        </p:nvSpPr>
        <p:spPr/>
        <p:txBody>
          <a:bodyPr/>
          <a:lstStyle/>
          <a:p>
            <a:fld id="{62FE1D97-69E3-41D8-9CB2-3866F86B8D03}" type="datetimeFigureOut">
              <a:rPr lang="en-IN" smtClean="0"/>
              <a:t>13-10-2025</a:t>
            </a:fld>
            <a:endParaRPr lang="en-IN"/>
          </a:p>
        </p:txBody>
      </p:sp>
      <p:sp>
        <p:nvSpPr>
          <p:cNvPr id="3" name="Footer Placeholder 2">
            <a:extLst>
              <a:ext uri="{FF2B5EF4-FFF2-40B4-BE49-F238E27FC236}">
                <a16:creationId xmlns:a16="http://schemas.microsoft.com/office/drawing/2014/main" id="{07FB1168-B088-947E-12BC-3335FF18C44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DCDABDD-9E78-BE20-60B7-30856A837B51}"/>
              </a:ext>
            </a:extLst>
          </p:cNvPr>
          <p:cNvSpPr>
            <a:spLocks noGrp="1"/>
          </p:cNvSpPr>
          <p:nvPr>
            <p:ph type="sldNum" sz="quarter" idx="12"/>
          </p:nvPr>
        </p:nvSpPr>
        <p:spPr/>
        <p:txBody>
          <a:bodyPr/>
          <a:lstStyle/>
          <a:p>
            <a:fld id="{F7DA6C3A-EB24-4642-82F7-2D7C7DBFC842}" type="slidenum">
              <a:rPr lang="en-IN" smtClean="0"/>
              <a:t>‹#›</a:t>
            </a:fld>
            <a:endParaRPr lang="en-IN"/>
          </a:p>
        </p:txBody>
      </p:sp>
    </p:spTree>
    <p:extLst>
      <p:ext uri="{BB962C8B-B14F-4D97-AF65-F5344CB8AC3E}">
        <p14:creationId xmlns:p14="http://schemas.microsoft.com/office/powerpoint/2010/main" val="11697136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19CC4-2E81-4B0E-20DE-CAC0480042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9A1E30A-A692-5451-8A99-3FB52277FCB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4B9BBE6-C350-D8BB-324D-142D5CF457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81CB5F-FF47-BD4F-1D55-250BD85E22EC}"/>
              </a:ext>
            </a:extLst>
          </p:cNvPr>
          <p:cNvSpPr>
            <a:spLocks noGrp="1"/>
          </p:cNvSpPr>
          <p:nvPr>
            <p:ph type="dt" sz="half" idx="10"/>
          </p:nvPr>
        </p:nvSpPr>
        <p:spPr/>
        <p:txBody>
          <a:bodyPr/>
          <a:lstStyle/>
          <a:p>
            <a:fld id="{62FE1D97-69E3-41D8-9CB2-3866F86B8D03}" type="datetimeFigureOut">
              <a:rPr lang="en-IN" smtClean="0"/>
              <a:t>13-10-2025</a:t>
            </a:fld>
            <a:endParaRPr lang="en-IN"/>
          </a:p>
        </p:txBody>
      </p:sp>
      <p:sp>
        <p:nvSpPr>
          <p:cNvPr id="6" name="Footer Placeholder 5">
            <a:extLst>
              <a:ext uri="{FF2B5EF4-FFF2-40B4-BE49-F238E27FC236}">
                <a16:creationId xmlns:a16="http://schemas.microsoft.com/office/drawing/2014/main" id="{DC6A9484-D7DE-A24B-8521-2DCC9C3029A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10BD226-BB73-0A25-BA3A-25B8A35CE890}"/>
              </a:ext>
            </a:extLst>
          </p:cNvPr>
          <p:cNvSpPr>
            <a:spLocks noGrp="1"/>
          </p:cNvSpPr>
          <p:nvPr>
            <p:ph type="sldNum" sz="quarter" idx="12"/>
          </p:nvPr>
        </p:nvSpPr>
        <p:spPr/>
        <p:txBody>
          <a:bodyPr/>
          <a:lstStyle/>
          <a:p>
            <a:fld id="{F7DA6C3A-EB24-4642-82F7-2D7C7DBFC842}" type="slidenum">
              <a:rPr lang="en-IN" smtClean="0"/>
              <a:t>‹#›</a:t>
            </a:fld>
            <a:endParaRPr lang="en-IN"/>
          </a:p>
        </p:txBody>
      </p:sp>
    </p:spTree>
    <p:extLst>
      <p:ext uri="{BB962C8B-B14F-4D97-AF65-F5344CB8AC3E}">
        <p14:creationId xmlns:p14="http://schemas.microsoft.com/office/powerpoint/2010/main" val="4201215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FDB2A-ADEB-6CC1-19C8-FEA641A249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F975CF1-B0E8-6F5D-1D26-2FF03EDACD9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6471FE0-8E84-9E6F-C85C-405789E94E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A897FE-35DF-5743-747A-234B8CCBC577}"/>
              </a:ext>
            </a:extLst>
          </p:cNvPr>
          <p:cNvSpPr>
            <a:spLocks noGrp="1"/>
          </p:cNvSpPr>
          <p:nvPr>
            <p:ph type="dt" sz="half" idx="10"/>
          </p:nvPr>
        </p:nvSpPr>
        <p:spPr/>
        <p:txBody>
          <a:bodyPr/>
          <a:lstStyle/>
          <a:p>
            <a:fld id="{62FE1D97-69E3-41D8-9CB2-3866F86B8D03}" type="datetimeFigureOut">
              <a:rPr lang="en-IN" smtClean="0"/>
              <a:t>13-10-2025</a:t>
            </a:fld>
            <a:endParaRPr lang="en-IN"/>
          </a:p>
        </p:txBody>
      </p:sp>
      <p:sp>
        <p:nvSpPr>
          <p:cNvPr id="6" name="Footer Placeholder 5">
            <a:extLst>
              <a:ext uri="{FF2B5EF4-FFF2-40B4-BE49-F238E27FC236}">
                <a16:creationId xmlns:a16="http://schemas.microsoft.com/office/drawing/2014/main" id="{B146BD22-53C2-3127-BB74-C6175273434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F878017-B280-9F96-EB3C-6FF41E67FDBF}"/>
              </a:ext>
            </a:extLst>
          </p:cNvPr>
          <p:cNvSpPr>
            <a:spLocks noGrp="1"/>
          </p:cNvSpPr>
          <p:nvPr>
            <p:ph type="sldNum" sz="quarter" idx="12"/>
          </p:nvPr>
        </p:nvSpPr>
        <p:spPr/>
        <p:txBody>
          <a:bodyPr/>
          <a:lstStyle/>
          <a:p>
            <a:fld id="{F7DA6C3A-EB24-4642-82F7-2D7C7DBFC842}" type="slidenum">
              <a:rPr lang="en-IN" smtClean="0"/>
              <a:t>‹#›</a:t>
            </a:fld>
            <a:endParaRPr lang="en-IN"/>
          </a:p>
        </p:txBody>
      </p:sp>
    </p:spTree>
    <p:extLst>
      <p:ext uri="{BB962C8B-B14F-4D97-AF65-F5344CB8AC3E}">
        <p14:creationId xmlns:p14="http://schemas.microsoft.com/office/powerpoint/2010/main" val="29628026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FD7C2-F38C-F343-0D05-4A4A3E8B97F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6ED0333-5F2D-54EE-0285-1988B538B23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A479E2C-7AF5-8A22-6A79-87F166F282F9}"/>
              </a:ext>
            </a:extLst>
          </p:cNvPr>
          <p:cNvSpPr>
            <a:spLocks noGrp="1"/>
          </p:cNvSpPr>
          <p:nvPr>
            <p:ph type="dt" sz="half" idx="10"/>
          </p:nvPr>
        </p:nvSpPr>
        <p:spPr/>
        <p:txBody>
          <a:bodyPr/>
          <a:lstStyle/>
          <a:p>
            <a:fld id="{62FE1D97-69E3-41D8-9CB2-3866F86B8D03}" type="datetimeFigureOut">
              <a:rPr lang="en-IN" smtClean="0"/>
              <a:t>13-10-2025</a:t>
            </a:fld>
            <a:endParaRPr lang="en-IN"/>
          </a:p>
        </p:txBody>
      </p:sp>
      <p:sp>
        <p:nvSpPr>
          <p:cNvPr id="5" name="Footer Placeholder 4">
            <a:extLst>
              <a:ext uri="{FF2B5EF4-FFF2-40B4-BE49-F238E27FC236}">
                <a16:creationId xmlns:a16="http://schemas.microsoft.com/office/drawing/2014/main" id="{CE08C7AD-EDD6-FC0B-0D09-C8B2682C803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0C9EF57-1277-9522-ACEF-FADC540A06F5}"/>
              </a:ext>
            </a:extLst>
          </p:cNvPr>
          <p:cNvSpPr>
            <a:spLocks noGrp="1"/>
          </p:cNvSpPr>
          <p:nvPr>
            <p:ph type="sldNum" sz="quarter" idx="12"/>
          </p:nvPr>
        </p:nvSpPr>
        <p:spPr/>
        <p:txBody>
          <a:bodyPr/>
          <a:lstStyle/>
          <a:p>
            <a:fld id="{F7DA6C3A-EB24-4642-82F7-2D7C7DBFC842}" type="slidenum">
              <a:rPr lang="en-IN" smtClean="0"/>
              <a:t>‹#›</a:t>
            </a:fld>
            <a:endParaRPr lang="en-IN"/>
          </a:p>
        </p:txBody>
      </p:sp>
    </p:spTree>
    <p:extLst>
      <p:ext uri="{BB962C8B-B14F-4D97-AF65-F5344CB8AC3E}">
        <p14:creationId xmlns:p14="http://schemas.microsoft.com/office/powerpoint/2010/main" val="41220239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7F6D2B3-72E2-F4A8-2810-DD02517DE52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3868792-4BC7-CAF5-CFEB-EAA8B87EE35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1CE1E6C-996B-2798-F263-A1F78BB87FF4}"/>
              </a:ext>
            </a:extLst>
          </p:cNvPr>
          <p:cNvSpPr>
            <a:spLocks noGrp="1"/>
          </p:cNvSpPr>
          <p:nvPr>
            <p:ph type="dt" sz="half" idx="10"/>
          </p:nvPr>
        </p:nvSpPr>
        <p:spPr/>
        <p:txBody>
          <a:bodyPr/>
          <a:lstStyle/>
          <a:p>
            <a:fld id="{62FE1D97-69E3-41D8-9CB2-3866F86B8D03}" type="datetimeFigureOut">
              <a:rPr lang="en-IN" smtClean="0"/>
              <a:t>13-10-2025</a:t>
            </a:fld>
            <a:endParaRPr lang="en-IN"/>
          </a:p>
        </p:txBody>
      </p:sp>
      <p:sp>
        <p:nvSpPr>
          <p:cNvPr id="5" name="Footer Placeholder 4">
            <a:extLst>
              <a:ext uri="{FF2B5EF4-FFF2-40B4-BE49-F238E27FC236}">
                <a16:creationId xmlns:a16="http://schemas.microsoft.com/office/drawing/2014/main" id="{6C07E282-2354-341B-0B78-AB7E1AEB21A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E22F3C-DA04-B89A-E179-995C16EC05B7}"/>
              </a:ext>
            </a:extLst>
          </p:cNvPr>
          <p:cNvSpPr>
            <a:spLocks noGrp="1"/>
          </p:cNvSpPr>
          <p:nvPr>
            <p:ph type="sldNum" sz="quarter" idx="12"/>
          </p:nvPr>
        </p:nvSpPr>
        <p:spPr/>
        <p:txBody>
          <a:bodyPr/>
          <a:lstStyle/>
          <a:p>
            <a:fld id="{F7DA6C3A-EB24-4642-82F7-2D7C7DBFC842}" type="slidenum">
              <a:rPr lang="en-IN" smtClean="0"/>
              <a:t>‹#›</a:t>
            </a:fld>
            <a:endParaRPr lang="en-IN"/>
          </a:p>
        </p:txBody>
      </p:sp>
    </p:spTree>
    <p:extLst>
      <p:ext uri="{BB962C8B-B14F-4D97-AF65-F5344CB8AC3E}">
        <p14:creationId xmlns:p14="http://schemas.microsoft.com/office/powerpoint/2010/main" val="177081297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59D572-0BC6-EFDF-22E3-EA7CFED7E4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C871FD4-7A0F-FE14-4363-2B8ABF1872F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314A35B-1AD7-03D5-70B0-0ED7B44C408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FE1D97-69E3-41D8-9CB2-3866F86B8D03}" type="datetimeFigureOut">
              <a:rPr lang="en-IN" smtClean="0"/>
              <a:t>13-10-2025</a:t>
            </a:fld>
            <a:endParaRPr lang="en-IN"/>
          </a:p>
        </p:txBody>
      </p:sp>
      <p:sp>
        <p:nvSpPr>
          <p:cNvPr id="5" name="Footer Placeholder 4">
            <a:extLst>
              <a:ext uri="{FF2B5EF4-FFF2-40B4-BE49-F238E27FC236}">
                <a16:creationId xmlns:a16="http://schemas.microsoft.com/office/drawing/2014/main" id="{2162F9A8-E5E8-F7E5-7DEC-CBFFD2EB4F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7A58054-99F5-B9B9-42CD-822ED8CB30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7DA6C3A-EB24-4642-82F7-2D7C7DBFC842}" type="slidenum">
              <a:rPr lang="en-IN" smtClean="0"/>
              <a:t>‹#›</a:t>
            </a:fld>
            <a:endParaRPr lang="en-IN"/>
          </a:p>
        </p:txBody>
      </p:sp>
    </p:spTree>
    <p:extLst>
      <p:ext uri="{BB962C8B-B14F-4D97-AF65-F5344CB8AC3E}">
        <p14:creationId xmlns:p14="http://schemas.microsoft.com/office/powerpoint/2010/main" val="42175620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A54A4-59E4-D2F4-88BA-C805C132885D}"/>
              </a:ext>
            </a:extLst>
          </p:cNvPr>
          <p:cNvSpPr>
            <a:spLocks noGrp="1"/>
          </p:cNvSpPr>
          <p:nvPr>
            <p:ph type="ctrTitle"/>
          </p:nvPr>
        </p:nvSpPr>
        <p:spPr>
          <a:xfrm>
            <a:off x="176981" y="1100027"/>
            <a:ext cx="11375922" cy="1158721"/>
          </a:xfrm>
        </p:spPr>
        <p:txBody>
          <a:bodyPr>
            <a:noAutofit/>
          </a:bodyPr>
          <a:lstStyle/>
          <a:p>
            <a:r>
              <a:rPr lang="en-IN" sz="4800" b="1" dirty="0"/>
              <a:t>FinTech AI: Algorithmic Trading Strategy Optimization</a:t>
            </a:r>
            <a:endParaRPr lang="en-IN" sz="4800" dirty="0"/>
          </a:p>
        </p:txBody>
      </p:sp>
      <p:pic>
        <p:nvPicPr>
          <p:cNvPr id="5" name="Picture 4">
            <a:extLst>
              <a:ext uri="{FF2B5EF4-FFF2-40B4-BE49-F238E27FC236}">
                <a16:creationId xmlns:a16="http://schemas.microsoft.com/office/drawing/2014/main" id="{9463E990-5242-2F65-3245-34466415DFA3}"/>
              </a:ext>
            </a:extLst>
          </p:cNvPr>
          <p:cNvPicPr>
            <a:picLocks noChangeAspect="1"/>
          </p:cNvPicPr>
          <p:nvPr/>
        </p:nvPicPr>
        <p:blipFill>
          <a:blip r:embed="rId2"/>
          <a:stretch>
            <a:fillRect/>
          </a:stretch>
        </p:blipFill>
        <p:spPr>
          <a:xfrm>
            <a:off x="1604151" y="2258748"/>
            <a:ext cx="8792591" cy="3473458"/>
          </a:xfrm>
          <a:prstGeom prst="rect">
            <a:avLst/>
          </a:prstGeom>
        </p:spPr>
      </p:pic>
    </p:spTree>
    <p:extLst>
      <p:ext uri="{BB962C8B-B14F-4D97-AF65-F5344CB8AC3E}">
        <p14:creationId xmlns:p14="http://schemas.microsoft.com/office/powerpoint/2010/main" val="14833513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C354125-3CAF-2FDE-37BA-958AA55E94FE}"/>
              </a:ext>
            </a:extLst>
          </p:cNvPr>
          <p:cNvSpPr txBox="1"/>
          <p:nvPr/>
        </p:nvSpPr>
        <p:spPr>
          <a:xfrm>
            <a:off x="1661650" y="1859339"/>
            <a:ext cx="6744929" cy="3139321"/>
          </a:xfrm>
          <a:prstGeom prst="rect">
            <a:avLst/>
          </a:prstGeom>
          <a:noFill/>
        </p:spPr>
        <p:txBody>
          <a:bodyPr wrap="square">
            <a:spAutoFit/>
          </a:bodyPr>
          <a:lstStyle/>
          <a:p>
            <a:pPr algn="l" rtl="0" fontAlgn="base">
              <a:buFont typeface="Arial" panose="020B0604020202020204" pitchFamily="34" charset="0"/>
              <a:buChar char="•"/>
            </a:pPr>
            <a:r>
              <a:rPr lang="en-IN" sz="1800" b="0" i="0" u="none" strike="noStrike" dirty="0">
                <a:solidFill>
                  <a:srgbClr val="000000"/>
                </a:solidFill>
                <a:effectLst/>
                <a:latin typeface="Times New Roman" panose="02020603050405020304" pitchFamily="18" charset="0"/>
              </a:rPr>
              <a:t>ABSTRACT</a:t>
            </a:r>
            <a:r>
              <a:rPr lang="en-US" sz="1800" b="0" i="0" dirty="0">
                <a:solidFill>
                  <a:srgbClr val="000000"/>
                </a:solidFill>
                <a:effectLst/>
                <a:latin typeface="Times New Roman" panose="02020603050405020304" pitchFamily="18" charset="0"/>
              </a:rPr>
              <a:t>​</a:t>
            </a:r>
            <a:endParaRPr lang="en-US" b="0" i="0" dirty="0">
              <a:solidFill>
                <a:srgbClr val="000000"/>
              </a:solidFill>
              <a:effectLst/>
              <a:latin typeface="Arial" panose="020B0604020202020204" pitchFamily="34" charset="0"/>
            </a:endParaRPr>
          </a:p>
          <a:p>
            <a:pPr algn="l" rtl="0" fontAlgn="base">
              <a:buFont typeface="Arial" panose="020B0604020202020204" pitchFamily="34" charset="0"/>
              <a:buChar char="•"/>
            </a:pPr>
            <a:r>
              <a:rPr lang="en-IN" sz="1800" b="0" i="0" u="none" strike="noStrike" dirty="0">
                <a:solidFill>
                  <a:srgbClr val="000000"/>
                </a:solidFill>
                <a:effectLst/>
                <a:latin typeface="Times New Roman" panose="02020603050405020304" pitchFamily="18" charset="0"/>
              </a:rPr>
              <a:t>OBJECTIVE</a:t>
            </a:r>
            <a:r>
              <a:rPr lang="en-US" sz="1800" b="0" i="0" dirty="0">
                <a:solidFill>
                  <a:srgbClr val="000000"/>
                </a:solidFill>
                <a:effectLst/>
                <a:latin typeface="Times New Roman" panose="02020603050405020304" pitchFamily="18" charset="0"/>
              </a:rPr>
              <a:t>​</a:t>
            </a:r>
            <a:endParaRPr lang="en-US" b="0" i="0" dirty="0">
              <a:solidFill>
                <a:srgbClr val="000000"/>
              </a:solidFill>
              <a:effectLst/>
              <a:latin typeface="Arial" panose="020B0604020202020204" pitchFamily="34" charset="0"/>
            </a:endParaRPr>
          </a:p>
          <a:p>
            <a:pPr algn="l" rtl="0" fontAlgn="base">
              <a:buFont typeface="Arial" panose="020B0604020202020204" pitchFamily="34" charset="0"/>
              <a:buChar char="•"/>
            </a:pPr>
            <a:r>
              <a:rPr lang="en-IN" sz="1800" b="0" i="0" u="none" strike="noStrike" dirty="0">
                <a:solidFill>
                  <a:srgbClr val="000000"/>
                </a:solidFill>
                <a:effectLst/>
                <a:latin typeface="Times New Roman" panose="02020603050405020304" pitchFamily="18" charset="0"/>
              </a:rPr>
              <a:t>INTRODUCTION</a:t>
            </a:r>
            <a:r>
              <a:rPr lang="en-US" sz="1800" b="0" i="0" dirty="0">
                <a:solidFill>
                  <a:srgbClr val="000000"/>
                </a:solidFill>
                <a:effectLst/>
                <a:latin typeface="Times New Roman" panose="02020603050405020304" pitchFamily="18" charset="0"/>
              </a:rPr>
              <a:t>​</a:t>
            </a:r>
            <a:endParaRPr lang="en-US" b="0" i="0" dirty="0">
              <a:solidFill>
                <a:srgbClr val="000000"/>
              </a:solidFill>
              <a:effectLst/>
              <a:latin typeface="Arial" panose="020B0604020202020204" pitchFamily="34" charset="0"/>
            </a:endParaRPr>
          </a:p>
          <a:p>
            <a:pPr algn="l" rtl="0" fontAlgn="base">
              <a:buFont typeface="Arial" panose="020B0604020202020204" pitchFamily="34" charset="0"/>
              <a:buChar char="•"/>
            </a:pPr>
            <a:r>
              <a:rPr lang="en-IN" sz="1800" b="0" i="0" u="none" strike="noStrike" dirty="0">
                <a:solidFill>
                  <a:srgbClr val="000000"/>
                </a:solidFill>
                <a:effectLst/>
                <a:latin typeface="Times New Roman" panose="02020603050405020304" pitchFamily="18" charset="0"/>
              </a:rPr>
              <a:t>LITERATURE REVIEW </a:t>
            </a:r>
            <a:r>
              <a:rPr lang="en-US" sz="1800" b="0" i="0" dirty="0">
                <a:solidFill>
                  <a:srgbClr val="000000"/>
                </a:solidFill>
                <a:effectLst/>
                <a:latin typeface="Times New Roman" panose="02020603050405020304" pitchFamily="18" charset="0"/>
              </a:rPr>
              <a:t>​</a:t>
            </a:r>
            <a:endParaRPr lang="en-US" b="0" i="0" dirty="0">
              <a:solidFill>
                <a:srgbClr val="000000"/>
              </a:solidFill>
              <a:effectLst/>
              <a:latin typeface="Arial" panose="020B0604020202020204" pitchFamily="34" charset="0"/>
            </a:endParaRPr>
          </a:p>
          <a:p>
            <a:pPr algn="l" rtl="0" fontAlgn="base">
              <a:buFont typeface="Arial" panose="020B0604020202020204" pitchFamily="34" charset="0"/>
              <a:buChar char="•"/>
            </a:pPr>
            <a:r>
              <a:rPr lang="en-IN" sz="1800" b="0" i="0" u="none" strike="noStrike" dirty="0">
                <a:solidFill>
                  <a:srgbClr val="000000"/>
                </a:solidFill>
                <a:effectLst/>
                <a:latin typeface="Times New Roman" panose="02020603050405020304" pitchFamily="18" charset="0"/>
              </a:rPr>
              <a:t>STANDARDS &amp; POLICIES USED</a:t>
            </a:r>
            <a:r>
              <a:rPr lang="en-US" sz="1800" b="0" i="0" dirty="0">
                <a:solidFill>
                  <a:srgbClr val="000000"/>
                </a:solidFill>
                <a:effectLst/>
                <a:latin typeface="Times New Roman" panose="02020603050405020304" pitchFamily="18" charset="0"/>
              </a:rPr>
              <a:t>​</a:t>
            </a:r>
            <a:endParaRPr lang="en-US" b="0" i="0" dirty="0">
              <a:solidFill>
                <a:srgbClr val="000000"/>
              </a:solidFill>
              <a:effectLst/>
              <a:latin typeface="Arial" panose="020B0604020202020204" pitchFamily="34" charset="0"/>
            </a:endParaRPr>
          </a:p>
          <a:p>
            <a:pPr algn="l" rtl="0" fontAlgn="base">
              <a:buFont typeface="Arial" panose="020B0604020202020204" pitchFamily="34" charset="0"/>
              <a:buChar char="•"/>
            </a:pPr>
            <a:r>
              <a:rPr lang="en-IN" sz="1800" b="0" i="0" u="none" strike="noStrike" dirty="0">
                <a:solidFill>
                  <a:srgbClr val="000000"/>
                </a:solidFill>
                <a:effectLst/>
                <a:latin typeface="Times New Roman" panose="02020603050405020304" pitchFamily="18" charset="0"/>
              </a:rPr>
              <a:t>IMPLEMENTATION</a:t>
            </a:r>
            <a:r>
              <a:rPr lang="en-US" sz="1800" b="0" i="0" dirty="0">
                <a:solidFill>
                  <a:srgbClr val="000000"/>
                </a:solidFill>
                <a:effectLst/>
                <a:latin typeface="Times New Roman" panose="02020603050405020304" pitchFamily="18" charset="0"/>
              </a:rPr>
              <a:t>​</a:t>
            </a:r>
            <a:endParaRPr lang="en-US" b="0" i="0" dirty="0">
              <a:solidFill>
                <a:srgbClr val="000000"/>
              </a:solidFill>
              <a:effectLst/>
              <a:latin typeface="Arial" panose="020B0604020202020204" pitchFamily="34" charset="0"/>
            </a:endParaRPr>
          </a:p>
          <a:p>
            <a:pPr algn="l" rtl="0" fontAlgn="base">
              <a:buFont typeface="Arial" panose="020B0604020202020204" pitchFamily="34" charset="0"/>
              <a:buChar char="•"/>
            </a:pPr>
            <a:r>
              <a:rPr lang="en-IN" sz="1800" b="0" i="0" u="none" strike="noStrike" dirty="0">
                <a:solidFill>
                  <a:srgbClr val="000000"/>
                </a:solidFill>
                <a:effectLst/>
                <a:latin typeface="Times New Roman" panose="02020603050405020304" pitchFamily="18" charset="0"/>
              </a:rPr>
              <a:t>TESTING</a:t>
            </a:r>
            <a:r>
              <a:rPr lang="en-US" sz="1800" b="0" i="0" dirty="0">
                <a:solidFill>
                  <a:srgbClr val="000000"/>
                </a:solidFill>
                <a:effectLst/>
                <a:latin typeface="Times New Roman" panose="02020603050405020304" pitchFamily="18" charset="0"/>
              </a:rPr>
              <a:t>​</a:t>
            </a:r>
            <a:endParaRPr lang="en-US" b="0" i="0" dirty="0">
              <a:solidFill>
                <a:srgbClr val="000000"/>
              </a:solidFill>
              <a:effectLst/>
              <a:latin typeface="Arial" panose="020B0604020202020204" pitchFamily="34" charset="0"/>
            </a:endParaRPr>
          </a:p>
          <a:p>
            <a:pPr algn="l" rtl="0" fontAlgn="base">
              <a:buFont typeface="Arial" panose="020B0604020202020204" pitchFamily="34" charset="0"/>
              <a:buChar char="•"/>
            </a:pPr>
            <a:r>
              <a:rPr lang="en-IN" sz="1800" b="0" i="0" u="none" strike="noStrike" dirty="0">
                <a:solidFill>
                  <a:srgbClr val="000000"/>
                </a:solidFill>
                <a:effectLst/>
                <a:latin typeface="Times New Roman" panose="02020603050405020304" pitchFamily="18" charset="0"/>
              </a:rPr>
              <a:t>INPUT AND OUTPUT</a:t>
            </a:r>
            <a:r>
              <a:rPr lang="en-US" sz="1800" b="0" i="0" dirty="0">
                <a:solidFill>
                  <a:srgbClr val="000000"/>
                </a:solidFill>
                <a:effectLst/>
                <a:latin typeface="Times New Roman" panose="02020603050405020304" pitchFamily="18" charset="0"/>
              </a:rPr>
              <a:t>​</a:t>
            </a:r>
            <a:endParaRPr lang="en-US" b="0" i="0" dirty="0">
              <a:solidFill>
                <a:srgbClr val="000000"/>
              </a:solidFill>
              <a:effectLst/>
              <a:latin typeface="Arial" panose="020B0604020202020204" pitchFamily="34" charset="0"/>
            </a:endParaRPr>
          </a:p>
          <a:p>
            <a:pPr algn="l" rtl="0" fontAlgn="base">
              <a:buFont typeface="Arial" panose="020B0604020202020204" pitchFamily="34" charset="0"/>
              <a:buChar char="•"/>
            </a:pPr>
            <a:r>
              <a:rPr lang="en-IN" sz="1800" b="0" i="0" u="none" strike="noStrike" dirty="0">
                <a:solidFill>
                  <a:srgbClr val="000000"/>
                </a:solidFill>
                <a:effectLst/>
                <a:latin typeface="Times New Roman" panose="02020603050405020304" pitchFamily="18" charset="0"/>
              </a:rPr>
              <a:t>CONCLUSION</a:t>
            </a:r>
            <a:r>
              <a:rPr lang="en-US" sz="1800" b="0" i="0" dirty="0">
                <a:solidFill>
                  <a:srgbClr val="000000"/>
                </a:solidFill>
                <a:effectLst/>
                <a:latin typeface="Times New Roman" panose="02020603050405020304" pitchFamily="18" charset="0"/>
              </a:rPr>
              <a:t>​</a:t>
            </a:r>
            <a:endParaRPr lang="en-US" b="0" i="0" dirty="0">
              <a:solidFill>
                <a:srgbClr val="000000"/>
              </a:solidFill>
              <a:effectLst/>
              <a:latin typeface="Arial" panose="020B0604020202020204" pitchFamily="34" charset="0"/>
            </a:endParaRPr>
          </a:p>
          <a:p>
            <a:pPr algn="l" rtl="0" fontAlgn="base">
              <a:buFont typeface="Arial" panose="020B0604020202020204" pitchFamily="34" charset="0"/>
              <a:buChar char="•"/>
            </a:pPr>
            <a:r>
              <a:rPr lang="en-IN" sz="1800" b="0" i="0" u="none" strike="noStrike" dirty="0">
                <a:solidFill>
                  <a:srgbClr val="000000"/>
                </a:solidFill>
                <a:effectLst/>
                <a:latin typeface="Times New Roman" panose="02020603050405020304" pitchFamily="18" charset="0"/>
              </a:rPr>
              <a:t>FUTURE ENHANCEMENTS</a:t>
            </a:r>
            <a:r>
              <a:rPr lang="en-US" sz="1800" b="0" i="0" dirty="0">
                <a:solidFill>
                  <a:srgbClr val="000000"/>
                </a:solidFill>
                <a:effectLst/>
                <a:latin typeface="Times New Roman" panose="02020603050405020304" pitchFamily="18" charset="0"/>
              </a:rPr>
              <a:t>​</a:t>
            </a:r>
            <a:endParaRPr lang="en-US" b="0" i="0" dirty="0">
              <a:solidFill>
                <a:srgbClr val="000000"/>
              </a:solidFill>
              <a:effectLst/>
              <a:latin typeface="Arial" panose="020B0604020202020204" pitchFamily="34" charset="0"/>
            </a:endParaRPr>
          </a:p>
          <a:p>
            <a:pPr algn="l" rtl="0" fontAlgn="base">
              <a:buFont typeface="Arial" panose="020B0604020202020204" pitchFamily="34" charset="0"/>
              <a:buChar char="•"/>
            </a:pPr>
            <a:r>
              <a:rPr lang="en-IN" sz="1800" b="0" i="0" u="none" strike="noStrike" dirty="0">
                <a:solidFill>
                  <a:srgbClr val="000000"/>
                </a:solidFill>
                <a:effectLst/>
                <a:latin typeface="Times New Roman" panose="02020603050405020304" pitchFamily="18" charset="0"/>
              </a:rPr>
              <a:t>REFERENCES</a:t>
            </a:r>
            <a:r>
              <a:rPr lang="en-US" sz="1800" b="0" i="0" dirty="0">
                <a:solidFill>
                  <a:srgbClr val="000000"/>
                </a:solidFill>
                <a:effectLst/>
                <a:latin typeface="Times New Roman" panose="02020603050405020304" pitchFamily="18" charset="0"/>
              </a:rPr>
              <a:t>​</a:t>
            </a:r>
            <a:endParaRPr lang="en-US" b="0" i="0" dirty="0">
              <a:solidFill>
                <a:srgbClr val="000000"/>
              </a:solidFill>
              <a:effectLst/>
              <a:latin typeface="Arial" panose="020B0604020202020204" pitchFamily="34" charset="0"/>
            </a:endParaRPr>
          </a:p>
        </p:txBody>
      </p:sp>
      <p:sp>
        <p:nvSpPr>
          <p:cNvPr id="5" name="TextBox 4">
            <a:extLst>
              <a:ext uri="{FF2B5EF4-FFF2-40B4-BE49-F238E27FC236}">
                <a16:creationId xmlns:a16="http://schemas.microsoft.com/office/drawing/2014/main" id="{91C0F3C0-EC65-9FD8-4171-DF5564AE56DE}"/>
              </a:ext>
            </a:extLst>
          </p:cNvPr>
          <p:cNvSpPr txBox="1"/>
          <p:nvPr/>
        </p:nvSpPr>
        <p:spPr>
          <a:xfrm>
            <a:off x="1789471" y="846305"/>
            <a:ext cx="6096000" cy="707886"/>
          </a:xfrm>
          <a:prstGeom prst="rect">
            <a:avLst/>
          </a:prstGeom>
          <a:noFill/>
        </p:spPr>
        <p:txBody>
          <a:bodyPr wrap="square">
            <a:spAutoFit/>
          </a:bodyPr>
          <a:lstStyle/>
          <a:p>
            <a:r>
              <a:rPr lang="en-IN" sz="4000" b="1" i="0" u="none" strike="noStrike" dirty="0">
                <a:solidFill>
                  <a:srgbClr val="000000"/>
                </a:solidFill>
                <a:effectLst/>
                <a:latin typeface="Times New Roman" panose="02020603050405020304" pitchFamily="18" charset="0"/>
              </a:rPr>
              <a:t>AGENDA</a:t>
            </a:r>
            <a:endParaRPr lang="en-IN" sz="4000" dirty="0"/>
          </a:p>
        </p:txBody>
      </p:sp>
      <p:pic>
        <p:nvPicPr>
          <p:cNvPr id="7" name="Picture 6">
            <a:extLst>
              <a:ext uri="{FF2B5EF4-FFF2-40B4-BE49-F238E27FC236}">
                <a16:creationId xmlns:a16="http://schemas.microsoft.com/office/drawing/2014/main" id="{60EE2295-FCE4-16A0-37C8-7BBB89EE8CDD}"/>
              </a:ext>
            </a:extLst>
          </p:cNvPr>
          <p:cNvPicPr>
            <a:picLocks noChangeAspect="1"/>
          </p:cNvPicPr>
          <p:nvPr/>
        </p:nvPicPr>
        <p:blipFill>
          <a:blip r:embed="rId2"/>
          <a:stretch>
            <a:fillRect/>
          </a:stretch>
        </p:blipFill>
        <p:spPr>
          <a:xfrm>
            <a:off x="5897861" y="3171991"/>
            <a:ext cx="6294139" cy="3653337"/>
          </a:xfrm>
          <a:prstGeom prst="rect">
            <a:avLst/>
          </a:prstGeom>
        </p:spPr>
      </p:pic>
    </p:spTree>
    <p:extLst>
      <p:ext uri="{BB962C8B-B14F-4D97-AF65-F5344CB8AC3E}">
        <p14:creationId xmlns:p14="http://schemas.microsoft.com/office/powerpoint/2010/main" val="16954076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5FA6A-1963-55A2-279C-0520D79067AC}"/>
              </a:ext>
            </a:extLst>
          </p:cNvPr>
          <p:cNvSpPr>
            <a:spLocks noGrp="1"/>
          </p:cNvSpPr>
          <p:nvPr>
            <p:ph type="title"/>
          </p:nvPr>
        </p:nvSpPr>
        <p:spPr/>
        <p:txBody>
          <a:bodyPr/>
          <a:lstStyle/>
          <a:p>
            <a:r>
              <a:rPr lang="en-IN" dirty="0"/>
              <a:t>Abstract</a:t>
            </a:r>
          </a:p>
        </p:txBody>
      </p:sp>
      <p:sp>
        <p:nvSpPr>
          <p:cNvPr id="3" name="Content Placeholder 2">
            <a:extLst>
              <a:ext uri="{FF2B5EF4-FFF2-40B4-BE49-F238E27FC236}">
                <a16:creationId xmlns:a16="http://schemas.microsoft.com/office/drawing/2014/main" id="{21935DB7-18F9-5E91-67ED-E6B8BEF2FDFA}"/>
              </a:ext>
            </a:extLst>
          </p:cNvPr>
          <p:cNvSpPr>
            <a:spLocks noGrp="1"/>
          </p:cNvSpPr>
          <p:nvPr>
            <p:ph idx="1"/>
          </p:nvPr>
        </p:nvSpPr>
        <p:spPr>
          <a:xfrm>
            <a:off x="678426" y="1690688"/>
            <a:ext cx="10675374" cy="4486275"/>
          </a:xfrm>
        </p:spPr>
        <p:txBody>
          <a:bodyPr>
            <a:normAutofit fontScale="77500" lnSpcReduction="20000"/>
          </a:bodyPr>
          <a:lstStyle/>
          <a:p>
            <a:r>
              <a:rPr lang="en-IN" dirty="0"/>
              <a:t>The rapid evolution of global financial markets has created a growing demand for intelligent systems capable of </a:t>
            </a:r>
            <a:r>
              <a:rPr lang="en-IN" dirty="0" err="1"/>
              <a:t>analyzing</a:t>
            </a:r>
            <a:r>
              <a:rPr lang="en-IN" dirty="0"/>
              <a:t> large-scale market data and generating data-driven trading insights. </a:t>
            </a:r>
            <a:r>
              <a:rPr lang="en-IN" dirty="0" err="1"/>
              <a:t>AlgoTrade</a:t>
            </a:r>
            <a:r>
              <a:rPr lang="en-IN" dirty="0"/>
              <a:t> AI — </a:t>
            </a:r>
            <a:r>
              <a:rPr lang="en-IN" dirty="0" err="1"/>
              <a:t>MarketPulse</a:t>
            </a:r>
            <a:r>
              <a:rPr lang="en-IN" dirty="0"/>
              <a:t> Optimizer is an integrated algorithmic trading framework that leverages machine learning and deep learning to predict market trends and optimize trading strategies. The system retrieves real-time data from </a:t>
            </a:r>
            <a:r>
              <a:rPr lang="en-IN" i="1" dirty="0"/>
              <a:t>Yahoo Finance</a:t>
            </a:r>
            <a:r>
              <a:rPr lang="en-IN" dirty="0"/>
              <a:t> and computes ten key technical indicators—including SMA, RSI, MACD, Stochastic Oscillator, and CCI—to capture market momentum and volatility.</a:t>
            </a:r>
          </a:p>
          <a:p>
            <a:pPr marL="0" indent="0">
              <a:buNone/>
            </a:pPr>
            <a:endParaRPr lang="en-IN" dirty="0"/>
          </a:p>
          <a:p>
            <a:r>
              <a:rPr lang="en-IN" dirty="0"/>
              <a:t>The project employs </a:t>
            </a:r>
            <a:r>
              <a:rPr lang="en-IN" dirty="0" err="1"/>
              <a:t>XGBoost</a:t>
            </a:r>
            <a:r>
              <a:rPr lang="en-IN" dirty="0"/>
              <a:t>, Random Forest, and LSTM models to forecast next-day stock returns, evaluates their performance using metrics such as MAE, RMSE, and DA (Direction Accuracy), and conducts </a:t>
            </a:r>
            <a:r>
              <a:rPr lang="en-IN" dirty="0" err="1"/>
              <a:t>backtesting</a:t>
            </a:r>
            <a:r>
              <a:rPr lang="en-IN" dirty="0"/>
              <a:t> to assess profitability. Additionally, an interactive </a:t>
            </a:r>
            <a:r>
              <a:rPr lang="en-IN" dirty="0" err="1"/>
              <a:t>Streamlit</a:t>
            </a:r>
            <a:r>
              <a:rPr lang="en-IN" dirty="0"/>
              <a:t> dashboard visualizes cumulative returns, compares model performances, and enables seamless user interaction. By integrating financial analytics with AI, </a:t>
            </a:r>
            <a:r>
              <a:rPr lang="en-IN" dirty="0" err="1"/>
              <a:t>AlgoTrade</a:t>
            </a:r>
            <a:r>
              <a:rPr lang="en-IN" dirty="0"/>
              <a:t> AI demonstrates how predictive </a:t>
            </a:r>
            <a:r>
              <a:rPr lang="en-IN" dirty="0" err="1"/>
              <a:t>modeling</a:t>
            </a:r>
            <a:r>
              <a:rPr lang="en-IN" dirty="0"/>
              <a:t> can enhance algorithmic trading decisions and provide a foundation for advanced extensions such as portfolio optimization, risk management, and reinforcement learning–based trading systems.</a:t>
            </a:r>
          </a:p>
          <a:p>
            <a:endParaRPr lang="en-IN" dirty="0"/>
          </a:p>
        </p:txBody>
      </p:sp>
    </p:spTree>
    <p:extLst>
      <p:ext uri="{BB962C8B-B14F-4D97-AF65-F5344CB8AC3E}">
        <p14:creationId xmlns:p14="http://schemas.microsoft.com/office/powerpoint/2010/main" val="11575402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DC94819-1526-2B65-9CF5-C308618C1495}"/>
              </a:ext>
            </a:extLst>
          </p:cNvPr>
          <p:cNvSpPr txBox="1"/>
          <p:nvPr/>
        </p:nvSpPr>
        <p:spPr>
          <a:xfrm>
            <a:off x="4316361" y="1351508"/>
            <a:ext cx="6096000" cy="646331"/>
          </a:xfrm>
          <a:prstGeom prst="rect">
            <a:avLst/>
          </a:prstGeom>
          <a:noFill/>
        </p:spPr>
        <p:txBody>
          <a:bodyPr wrap="square">
            <a:spAutoFit/>
          </a:bodyPr>
          <a:lstStyle/>
          <a:p>
            <a:r>
              <a:rPr lang="en-IN" sz="3600" b="1" i="0" u="none" strike="noStrike" dirty="0">
                <a:solidFill>
                  <a:srgbClr val="000000"/>
                </a:solidFill>
                <a:effectLst/>
                <a:latin typeface="Times New Roman" panose="02020603050405020304" pitchFamily="18" charset="0"/>
              </a:rPr>
              <a:t>OBJECTIVES</a:t>
            </a:r>
            <a:r>
              <a:rPr lang="en-IN" sz="3600" b="0" i="0" u="none" strike="noStrike" dirty="0">
                <a:solidFill>
                  <a:srgbClr val="000000"/>
                </a:solidFill>
                <a:effectLst/>
                <a:latin typeface="Times New Roman" panose="02020603050405020304" pitchFamily="18" charset="0"/>
              </a:rPr>
              <a:t> </a:t>
            </a:r>
            <a:r>
              <a:rPr lang="en-IN" sz="3600" b="0" i="0" dirty="0">
                <a:solidFill>
                  <a:srgbClr val="000000"/>
                </a:solidFill>
                <a:effectLst/>
                <a:latin typeface="Times New Roman" panose="02020603050405020304" pitchFamily="18" charset="0"/>
              </a:rPr>
              <a:t>​</a:t>
            </a:r>
            <a:endParaRPr lang="en-IN" sz="3600" dirty="0"/>
          </a:p>
        </p:txBody>
      </p:sp>
      <p:sp>
        <p:nvSpPr>
          <p:cNvPr id="4" name="Rectangle 1">
            <a:extLst>
              <a:ext uri="{FF2B5EF4-FFF2-40B4-BE49-F238E27FC236}">
                <a16:creationId xmlns:a16="http://schemas.microsoft.com/office/drawing/2014/main" id="{A148989B-0357-01FE-2BD0-D4AA007CA1CB}"/>
              </a:ext>
            </a:extLst>
          </p:cNvPr>
          <p:cNvSpPr>
            <a:spLocks noChangeArrowheads="1"/>
          </p:cNvSpPr>
          <p:nvPr/>
        </p:nvSpPr>
        <p:spPr bwMode="auto">
          <a:xfrm>
            <a:off x="471948" y="1997839"/>
            <a:ext cx="10638503"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Aim</a:t>
            </a:r>
            <a:r>
              <a:rPr kumimoji="0" lang="en-US" altLang="en-US" sz="1800" b="0" i="0" u="none" strike="noStrike" cap="none" normalizeH="0" baseline="0" dirty="0">
                <a:ln>
                  <a:noFill/>
                </a:ln>
                <a:solidFill>
                  <a:schemeClr val="tx1"/>
                </a:solidFill>
                <a:effectLst/>
                <a:latin typeface="Arial" panose="020B0604020202020204" pitchFamily="34" charset="0"/>
              </a:rPr>
              <a:t>: Develop an AI-driven trading framework to predict crypto market trends and optimize strategies using machine learning and deep learning. </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Scope</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Retrieve real-time Yahoo Finance data and compute indicators (SMA, RSI, MACD, etc.).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 </a:t>
            </a:r>
            <a:r>
              <a:rPr kumimoji="0" lang="en-US" altLang="en-US" sz="1800" b="0" i="0" u="none" strike="noStrike" cap="none" normalizeH="0" baseline="0" dirty="0" err="1">
                <a:ln>
                  <a:noFill/>
                </a:ln>
                <a:solidFill>
                  <a:schemeClr val="tx1"/>
                </a:solidFill>
                <a:effectLst/>
                <a:latin typeface="Arial" panose="020B0604020202020204" pitchFamily="34" charset="0"/>
              </a:rPr>
              <a:t>XGBoost</a:t>
            </a:r>
            <a:r>
              <a:rPr kumimoji="0" lang="en-US" altLang="en-US" sz="1800" b="0" i="0" u="none" strike="noStrike" cap="none" normalizeH="0" baseline="0" dirty="0">
                <a:ln>
                  <a:noFill/>
                </a:ln>
                <a:solidFill>
                  <a:schemeClr val="tx1"/>
                </a:solidFill>
                <a:effectLst/>
                <a:latin typeface="Arial" panose="020B0604020202020204" pitchFamily="34" charset="0"/>
              </a:rPr>
              <a:t>, Random Forest, LSTM to forecast returns, evaluated by MAE, RMSE, DA (Direction Accuracy).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Backtest</a:t>
            </a:r>
            <a:r>
              <a:rPr kumimoji="0" lang="en-US" altLang="en-US" sz="1800" b="0" i="0" u="none" strike="noStrike" cap="none" normalizeH="0" baseline="0" dirty="0">
                <a:ln>
                  <a:noFill/>
                </a:ln>
                <a:solidFill>
                  <a:schemeClr val="tx1"/>
                </a:solidFill>
                <a:effectLst/>
                <a:latin typeface="Arial" panose="020B0604020202020204" pitchFamily="34" charset="0"/>
              </a:rPr>
              <a:t> strategies and visualize returns via an interactive </a:t>
            </a:r>
            <a:r>
              <a:rPr kumimoji="0" lang="en-US" altLang="en-US" sz="1800" b="0" i="0" u="none" strike="noStrike" cap="none" normalizeH="0" baseline="0" dirty="0" err="1">
                <a:ln>
                  <a:noFill/>
                </a:ln>
                <a:solidFill>
                  <a:schemeClr val="tx1"/>
                </a:solidFill>
                <a:effectLst/>
                <a:latin typeface="Arial" panose="020B0604020202020204" pitchFamily="34" charset="0"/>
              </a:rPr>
              <a:t>Streamlit</a:t>
            </a:r>
            <a:r>
              <a:rPr kumimoji="0" lang="en-US" altLang="en-US" sz="1800" b="0" i="0" u="none" strike="noStrike" cap="none" normalizeH="0" baseline="0" dirty="0">
                <a:ln>
                  <a:noFill/>
                </a:ln>
                <a:solidFill>
                  <a:schemeClr val="tx1"/>
                </a:solidFill>
                <a:effectLst/>
                <a:latin typeface="Arial" panose="020B0604020202020204" pitchFamily="34" charset="0"/>
              </a:rPr>
              <a:t> dashboard.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Foundation for portfolio optimization and risk management.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314244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F6FB8CE-EF10-0BC9-DE43-AEBD00B30F21}"/>
              </a:ext>
            </a:extLst>
          </p:cNvPr>
          <p:cNvSpPr txBox="1"/>
          <p:nvPr/>
        </p:nvSpPr>
        <p:spPr>
          <a:xfrm>
            <a:off x="521110" y="316779"/>
            <a:ext cx="6096000" cy="584775"/>
          </a:xfrm>
          <a:prstGeom prst="rect">
            <a:avLst/>
          </a:prstGeom>
          <a:noFill/>
        </p:spPr>
        <p:txBody>
          <a:bodyPr wrap="square">
            <a:spAutoFit/>
          </a:bodyPr>
          <a:lstStyle/>
          <a:p>
            <a:r>
              <a:rPr lang="en-IN" sz="3200" b="1" i="0" u="none" strike="noStrike" dirty="0">
                <a:solidFill>
                  <a:srgbClr val="000000"/>
                </a:solidFill>
                <a:effectLst/>
                <a:latin typeface="Times New Roman" panose="02020603050405020304" pitchFamily="18" charset="0"/>
              </a:rPr>
              <a:t>INTRODUCTION</a:t>
            </a:r>
            <a:r>
              <a:rPr lang="en-IN" sz="3200" b="0" i="0" dirty="0">
                <a:solidFill>
                  <a:srgbClr val="000000"/>
                </a:solidFill>
                <a:effectLst/>
                <a:latin typeface="Times New Roman" panose="02020603050405020304" pitchFamily="18" charset="0"/>
              </a:rPr>
              <a:t>​</a:t>
            </a:r>
            <a:endParaRPr lang="en-IN" sz="3200" dirty="0"/>
          </a:p>
        </p:txBody>
      </p:sp>
      <p:sp>
        <p:nvSpPr>
          <p:cNvPr id="7" name="Rectangle 2">
            <a:extLst>
              <a:ext uri="{FF2B5EF4-FFF2-40B4-BE49-F238E27FC236}">
                <a16:creationId xmlns:a16="http://schemas.microsoft.com/office/drawing/2014/main" id="{D2CDC1FF-7F38-AEB3-252E-B36E69280A4B}"/>
              </a:ext>
            </a:extLst>
          </p:cNvPr>
          <p:cNvSpPr>
            <a:spLocks noChangeArrowheads="1"/>
          </p:cNvSpPr>
          <p:nvPr/>
        </p:nvSpPr>
        <p:spPr bwMode="auto">
          <a:xfrm>
            <a:off x="511278" y="901554"/>
            <a:ext cx="11159612"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The rapid evolution of global financial markets has intensified the need for advanced tools to analyze vast datasets and generate actionable trading insights.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a:t>
            </a:r>
            <a:r>
              <a:rPr kumimoji="0" lang="en-US" altLang="en-US" sz="1600" b="0" i="0" u="none" strike="noStrike" cap="none" normalizeH="0" baseline="0" dirty="0" err="1">
                <a:ln>
                  <a:noFill/>
                </a:ln>
                <a:solidFill>
                  <a:schemeClr val="tx1"/>
                </a:solidFill>
                <a:effectLst/>
                <a:latin typeface="Arial" panose="020B0604020202020204" pitchFamily="34" charset="0"/>
              </a:rPr>
              <a:t>AlgoTrade</a:t>
            </a:r>
            <a:r>
              <a:rPr kumimoji="0" lang="en-US" altLang="en-US" sz="1600" b="0" i="0" u="none" strike="noStrike" cap="none" normalizeH="0" baseline="0" dirty="0">
                <a:ln>
                  <a:noFill/>
                </a:ln>
                <a:solidFill>
                  <a:schemeClr val="tx1"/>
                </a:solidFill>
                <a:effectLst/>
                <a:latin typeface="Arial" panose="020B0604020202020204" pitchFamily="34" charset="0"/>
              </a:rPr>
              <a:t> AI — </a:t>
            </a:r>
            <a:r>
              <a:rPr kumimoji="0" lang="en-US" altLang="en-US" sz="1600" b="0" i="0" u="none" strike="noStrike" cap="none" normalizeH="0" baseline="0" dirty="0" err="1">
                <a:ln>
                  <a:noFill/>
                </a:ln>
                <a:solidFill>
                  <a:schemeClr val="tx1"/>
                </a:solidFill>
                <a:effectLst/>
                <a:latin typeface="Arial" panose="020B0604020202020204" pitchFamily="34" charset="0"/>
              </a:rPr>
              <a:t>MarketPulse</a:t>
            </a:r>
            <a:r>
              <a:rPr kumimoji="0" lang="en-US" altLang="en-US" sz="1600" b="0" i="0" u="none" strike="noStrike" cap="none" normalizeH="0" baseline="0" dirty="0">
                <a:ln>
                  <a:noFill/>
                </a:ln>
                <a:solidFill>
                  <a:schemeClr val="tx1"/>
                </a:solidFill>
                <a:effectLst/>
                <a:latin typeface="Arial" panose="020B0604020202020204" pitchFamily="34" charset="0"/>
              </a:rPr>
              <a:t> Optimizer" is an innovative algorithmic trading framework designed to harness the power of machine learning and deep learning.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The system aims to predict crypto market trends, optimize trading strategies, and enhance decision-making for traders.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It integrates real-time financial data with cutting-edge predictive models.</a:t>
            </a:r>
          </a:p>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Utilizes real-time data from Yahoo Finance and computes key technical indicators such as SMA, RSI, MACD, Stochastic Oscillator, and CCI.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Employs models like </a:t>
            </a:r>
            <a:r>
              <a:rPr kumimoji="0" lang="en-US" altLang="en-US" sz="1600" b="0" i="0" u="none" strike="noStrike" cap="none" normalizeH="0" baseline="0" dirty="0" err="1">
                <a:ln>
                  <a:noFill/>
                </a:ln>
                <a:solidFill>
                  <a:schemeClr val="tx1"/>
                </a:solidFill>
                <a:effectLst/>
                <a:latin typeface="Arial" panose="020B0604020202020204" pitchFamily="34" charset="0"/>
              </a:rPr>
              <a:t>XGBoost</a:t>
            </a:r>
            <a:r>
              <a:rPr kumimoji="0" lang="en-US" altLang="en-US" sz="1600" b="0" i="0" u="none" strike="noStrike" cap="none" normalizeH="0" baseline="0" dirty="0">
                <a:ln>
                  <a:noFill/>
                </a:ln>
                <a:solidFill>
                  <a:schemeClr val="tx1"/>
                </a:solidFill>
                <a:effectLst/>
                <a:latin typeface="Arial" panose="020B0604020202020204" pitchFamily="34" charset="0"/>
              </a:rPr>
              <a:t>, Random Forest, and LSTM to forecast next-day stock returns.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Evaluated through metrics like MAE, RMSE, and DA (Direction Accuracy).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Validated via </a:t>
            </a:r>
            <a:r>
              <a:rPr kumimoji="0" lang="en-US" altLang="en-US" sz="1600" b="0" i="0" u="none" strike="noStrike" cap="none" normalizeH="0" baseline="0" dirty="0" err="1">
                <a:ln>
                  <a:noFill/>
                </a:ln>
                <a:solidFill>
                  <a:schemeClr val="tx1"/>
                </a:solidFill>
                <a:effectLst/>
                <a:latin typeface="Arial" panose="020B0604020202020204" pitchFamily="34" charset="0"/>
              </a:rPr>
              <a:t>backtesting</a:t>
            </a:r>
            <a:r>
              <a:rPr kumimoji="0" lang="en-US" altLang="en-US" sz="16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Features an interactive </a:t>
            </a:r>
            <a:r>
              <a:rPr kumimoji="0" lang="en-US" altLang="en-US" sz="1600" b="0" i="0" u="none" strike="noStrike" cap="none" normalizeH="0" baseline="0" dirty="0" err="1">
                <a:ln>
                  <a:noFill/>
                </a:ln>
                <a:solidFill>
                  <a:schemeClr val="tx1"/>
                </a:solidFill>
                <a:effectLst/>
                <a:latin typeface="Arial" panose="020B0604020202020204" pitchFamily="34" charset="0"/>
              </a:rPr>
              <a:t>Streamlit</a:t>
            </a:r>
            <a:r>
              <a:rPr kumimoji="0" lang="en-US" altLang="en-US" sz="1600" b="0" i="0" u="none" strike="noStrike" cap="none" normalizeH="0" baseline="0" dirty="0">
                <a:ln>
                  <a:noFill/>
                </a:ln>
                <a:solidFill>
                  <a:schemeClr val="tx1"/>
                </a:solidFill>
                <a:effectLst/>
                <a:latin typeface="Arial" panose="020B0604020202020204" pitchFamily="34" charset="0"/>
              </a:rPr>
              <a:t> dashboard to visualize performance and compare strategies. </a:t>
            </a:r>
          </a:p>
        </p:txBody>
      </p:sp>
    </p:spTree>
    <p:extLst>
      <p:ext uri="{BB962C8B-B14F-4D97-AF65-F5344CB8AC3E}">
        <p14:creationId xmlns:p14="http://schemas.microsoft.com/office/powerpoint/2010/main" val="22091426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CE1F58-5AEA-CE4E-F4E1-0BED7FD0C53D}"/>
              </a:ext>
            </a:extLst>
          </p:cNvPr>
          <p:cNvSpPr txBox="1"/>
          <p:nvPr/>
        </p:nvSpPr>
        <p:spPr>
          <a:xfrm>
            <a:off x="530942" y="424934"/>
            <a:ext cx="6096000" cy="523220"/>
          </a:xfrm>
          <a:prstGeom prst="rect">
            <a:avLst/>
          </a:prstGeom>
          <a:noFill/>
        </p:spPr>
        <p:txBody>
          <a:bodyPr wrap="square">
            <a:spAutoFit/>
          </a:bodyPr>
          <a:lstStyle/>
          <a:p>
            <a:r>
              <a:rPr lang="en-IN" sz="2800" b="1" i="0" u="none" strike="noStrike" dirty="0">
                <a:solidFill>
                  <a:srgbClr val="000000"/>
                </a:solidFill>
                <a:effectLst/>
                <a:latin typeface="Times New Roman" panose="02020603050405020304" pitchFamily="18" charset="0"/>
              </a:rPr>
              <a:t>LITERATURE REVIEW</a:t>
            </a:r>
            <a:endParaRPr lang="en-IN" sz="2800" dirty="0"/>
          </a:p>
        </p:txBody>
      </p:sp>
      <p:sp>
        <p:nvSpPr>
          <p:cNvPr id="5" name="TextBox 4">
            <a:extLst>
              <a:ext uri="{FF2B5EF4-FFF2-40B4-BE49-F238E27FC236}">
                <a16:creationId xmlns:a16="http://schemas.microsoft.com/office/drawing/2014/main" id="{68013EA2-D1A5-23C3-CF15-1E36E5F4AA41}"/>
              </a:ext>
            </a:extLst>
          </p:cNvPr>
          <p:cNvSpPr txBox="1"/>
          <p:nvPr/>
        </p:nvSpPr>
        <p:spPr>
          <a:xfrm>
            <a:off x="639096" y="1769069"/>
            <a:ext cx="10776155" cy="4401205"/>
          </a:xfrm>
          <a:prstGeom prst="rect">
            <a:avLst/>
          </a:prstGeom>
          <a:noFill/>
        </p:spPr>
        <p:txBody>
          <a:bodyPr wrap="square">
            <a:spAutoFit/>
          </a:bodyPr>
          <a:lstStyle/>
          <a:p>
            <a:pPr marL="742950" lvl="1" indent="-285750">
              <a:buFont typeface="Arial" panose="020B0604020202020204" pitchFamily="34" charset="0"/>
              <a:buChar char="•"/>
            </a:pPr>
            <a:r>
              <a:rPr lang="en-IN" sz="2800" dirty="0"/>
              <a:t>Rapid evolution of financial markets demands advanced tools for data analysis and trading insights.</a:t>
            </a:r>
          </a:p>
          <a:p>
            <a:pPr marL="742950" lvl="1" indent="-285750">
              <a:buFont typeface="Arial" panose="020B0604020202020204" pitchFamily="34" charset="0"/>
              <a:buChar char="•"/>
            </a:pPr>
            <a:r>
              <a:rPr lang="en-IN" sz="2800" dirty="0"/>
              <a:t>Innovative framework using machine learning and deep learning to predict trends and optimize strategies.</a:t>
            </a:r>
          </a:p>
          <a:p>
            <a:pPr marL="742950" lvl="1" indent="-285750">
              <a:buFont typeface="Arial" panose="020B0604020202020204" pitchFamily="34" charset="0"/>
              <a:buChar char="•"/>
            </a:pPr>
            <a:r>
              <a:rPr lang="en-IN" sz="2800" dirty="0"/>
              <a:t>Integrates real-time Yahoo Finance data with indicators (SMA, RSI, MACD, Stochastic Oscillator, CCI).</a:t>
            </a:r>
          </a:p>
          <a:p>
            <a:pPr marL="742950" lvl="1" indent="-285750">
              <a:buFont typeface="Arial" panose="020B0604020202020204" pitchFamily="34" charset="0"/>
              <a:buChar char="•"/>
            </a:pPr>
            <a:r>
              <a:rPr lang="en-IN" sz="2800" dirty="0"/>
              <a:t>Employs </a:t>
            </a:r>
            <a:r>
              <a:rPr lang="en-IN" sz="2800" dirty="0" err="1"/>
              <a:t>XGBoost</a:t>
            </a:r>
            <a:r>
              <a:rPr lang="en-IN" sz="2800" dirty="0"/>
              <a:t>, Random Forest, and LSTM for next-day return forecasts.</a:t>
            </a:r>
          </a:p>
          <a:p>
            <a:pPr marL="742950" lvl="1" indent="-285750">
              <a:buFont typeface="Arial" panose="020B0604020202020204" pitchFamily="34" charset="0"/>
              <a:buChar char="•"/>
            </a:pPr>
            <a:r>
              <a:rPr lang="en-IN" sz="2800" dirty="0"/>
              <a:t>Evaluated via MAE, RMSE, DA (Direction Accuracy); validated with </a:t>
            </a:r>
            <a:r>
              <a:rPr lang="en-IN" sz="2800" dirty="0" err="1"/>
              <a:t>backtesting</a:t>
            </a:r>
            <a:r>
              <a:rPr lang="en-IN" sz="2800" dirty="0"/>
              <a:t>.</a:t>
            </a:r>
          </a:p>
          <a:p>
            <a:pPr marL="742950" lvl="1" indent="-285750">
              <a:buFont typeface="Arial" panose="020B0604020202020204" pitchFamily="34" charset="0"/>
              <a:buChar char="•"/>
            </a:pPr>
            <a:r>
              <a:rPr lang="en-IN" sz="2800" dirty="0"/>
              <a:t>Features interactive </a:t>
            </a:r>
            <a:r>
              <a:rPr lang="en-IN" sz="2800" dirty="0" err="1"/>
              <a:t>Streamlit</a:t>
            </a:r>
            <a:r>
              <a:rPr lang="en-IN" sz="2800" dirty="0"/>
              <a:t> dashboard for visualization.</a:t>
            </a:r>
          </a:p>
        </p:txBody>
      </p:sp>
    </p:spTree>
    <p:extLst>
      <p:ext uri="{BB962C8B-B14F-4D97-AF65-F5344CB8AC3E}">
        <p14:creationId xmlns:p14="http://schemas.microsoft.com/office/powerpoint/2010/main" val="26065282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24E6F8A-C555-B341-642A-A9C5F6A6B09F}"/>
              </a:ext>
            </a:extLst>
          </p:cNvPr>
          <p:cNvSpPr>
            <a:spLocks noChangeArrowheads="1"/>
          </p:cNvSpPr>
          <p:nvPr/>
        </p:nvSpPr>
        <p:spPr bwMode="auto">
          <a:xfrm>
            <a:off x="855406" y="1321859"/>
            <a:ext cx="10972800"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Data Sources</a:t>
            </a:r>
            <a:r>
              <a:rPr kumimoji="0" lang="en-US" altLang="en-US" sz="2400" b="0" i="0" u="none" strike="noStrike" cap="none" normalizeH="0" baseline="0" dirty="0">
                <a:ln>
                  <a:noFill/>
                </a:ln>
                <a:solidFill>
                  <a:schemeClr val="tx1"/>
                </a:solidFill>
                <a:effectLst/>
                <a:latin typeface="Arial" panose="020B0604020202020204" pitchFamily="34" charset="0"/>
              </a:rPr>
              <a:t>: Real-time data from Yahoo Finance (Bollinger, 2002; Murphy, 1999); potential for alternative data (López de Prado, 2018).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Modeling</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XGBoost</a:t>
            </a:r>
            <a:r>
              <a:rPr kumimoji="0" lang="en-US" altLang="en-US" sz="2400" b="0" i="0" u="none" strike="noStrike" cap="none" normalizeH="0" baseline="0" dirty="0">
                <a:ln>
                  <a:noFill/>
                </a:ln>
                <a:solidFill>
                  <a:schemeClr val="tx1"/>
                </a:solidFill>
                <a:effectLst/>
                <a:latin typeface="Arial" panose="020B0604020202020204" pitchFamily="34" charset="0"/>
              </a:rPr>
              <a:t> (Chen &amp; </a:t>
            </a:r>
            <a:r>
              <a:rPr kumimoji="0" lang="en-US" altLang="en-US" sz="2400" b="0" i="0" u="none" strike="noStrike" cap="none" normalizeH="0" baseline="0" dirty="0" err="1">
                <a:ln>
                  <a:noFill/>
                </a:ln>
                <a:solidFill>
                  <a:schemeClr val="tx1"/>
                </a:solidFill>
                <a:effectLst/>
                <a:latin typeface="Arial" panose="020B0604020202020204" pitchFamily="34" charset="0"/>
              </a:rPr>
              <a:t>Guestrin</a:t>
            </a:r>
            <a:r>
              <a:rPr kumimoji="0" lang="en-US" altLang="en-US" sz="2400" b="0" i="0" u="none" strike="noStrike" cap="none" normalizeH="0" baseline="0" dirty="0">
                <a:ln>
                  <a:noFill/>
                </a:ln>
                <a:solidFill>
                  <a:schemeClr val="tx1"/>
                </a:solidFill>
                <a:effectLst/>
                <a:latin typeface="Arial" panose="020B0604020202020204" pitchFamily="34" charset="0"/>
              </a:rPr>
              <a:t>, 2016), Random Forest (</a:t>
            </a:r>
            <a:r>
              <a:rPr kumimoji="0" lang="en-US" altLang="en-US" sz="2400" b="0" i="0" u="none" strike="noStrike" cap="none" normalizeH="0" baseline="0" dirty="0" err="1">
                <a:ln>
                  <a:noFill/>
                </a:ln>
                <a:solidFill>
                  <a:schemeClr val="tx1"/>
                </a:solidFill>
                <a:effectLst/>
                <a:latin typeface="Arial" panose="020B0604020202020204" pitchFamily="34" charset="0"/>
              </a:rPr>
              <a:t>Breiman</a:t>
            </a:r>
            <a:r>
              <a:rPr kumimoji="0" lang="en-US" altLang="en-US" sz="2400" b="0" i="0" u="none" strike="noStrike" cap="none" normalizeH="0" baseline="0" dirty="0">
                <a:ln>
                  <a:noFill/>
                </a:ln>
                <a:solidFill>
                  <a:schemeClr val="tx1"/>
                </a:solidFill>
                <a:effectLst/>
                <a:latin typeface="Arial" panose="020B0604020202020204" pitchFamily="34" charset="0"/>
              </a:rPr>
              <a:t>, 2001), LSTM (Hochreiter &amp; </a:t>
            </a:r>
            <a:r>
              <a:rPr kumimoji="0" lang="en-US" altLang="en-US" sz="2400" b="0" i="0" u="none" strike="noStrike" cap="none" normalizeH="0" baseline="0" dirty="0" err="1">
                <a:ln>
                  <a:noFill/>
                </a:ln>
                <a:solidFill>
                  <a:schemeClr val="tx1"/>
                </a:solidFill>
                <a:effectLst/>
                <a:latin typeface="Arial" panose="020B0604020202020204" pitchFamily="34" charset="0"/>
              </a:rPr>
              <a:t>Schmidhuber</a:t>
            </a:r>
            <a:r>
              <a:rPr kumimoji="0" lang="en-US" altLang="en-US" sz="2400" b="0" i="0" u="none" strike="noStrike" cap="none" normalizeH="0" baseline="0" dirty="0">
                <a:ln>
                  <a:noFill/>
                </a:ln>
                <a:solidFill>
                  <a:schemeClr val="tx1"/>
                </a:solidFill>
                <a:effectLst/>
                <a:latin typeface="Arial" panose="020B0604020202020204" pitchFamily="34" charset="0"/>
              </a:rPr>
              <a:t>, 1997) for stock prediction (Fischer et al., 2018).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Indicators</a:t>
            </a:r>
            <a:r>
              <a:rPr kumimoji="0" lang="en-US" altLang="en-US" sz="2400" b="0" i="0" u="none" strike="noStrike" cap="none" normalizeH="0" baseline="0" dirty="0">
                <a:ln>
                  <a:noFill/>
                </a:ln>
                <a:solidFill>
                  <a:schemeClr val="tx1"/>
                </a:solidFill>
                <a:effectLst/>
                <a:latin typeface="Arial" panose="020B0604020202020204" pitchFamily="34" charset="0"/>
              </a:rPr>
              <a:t>: SMA, RSI (Wilder, 1978), MACD (Appel, 2005), Stochastic (Lane, 1984), CCI (Lambert, 1980) for market analysis (</a:t>
            </a:r>
            <a:r>
              <a:rPr kumimoji="0" lang="en-US" altLang="en-US" sz="2400" b="0" i="0" u="none" strike="noStrike" cap="none" normalizeH="0" baseline="0" dirty="0" err="1">
                <a:ln>
                  <a:noFill/>
                </a:ln>
                <a:solidFill>
                  <a:schemeClr val="tx1"/>
                </a:solidFill>
                <a:effectLst/>
                <a:latin typeface="Arial" panose="020B0604020202020204" pitchFamily="34" charset="0"/>
              </a:rPr>
              <a:t>Achelis</a:t>
            </a:r>
            <a:r>
              <a:rPr kumimoji="0" lang="en-US" altLang="en-US" sz="2400" b="0" i="0" u="none" strike="noStrike" cap="none" normalizeH="0" baseline="0" dirty="0">
                <a:ln>
                  <a:noFill/>
                </a:ln>
                <a:solidFill>
                  <a:schemeClr val="tx1"/>
                </a:solidFill>
                <a:effectLst/>
                <a:latin typeface="Arial" panose="020B0604020202020204" pitchFamily="34" charset="0"/>
              </a:rPr>
              <a:t>, 2001).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Metrics</a:t>
            </a:r>
            <a:r>
              <a:rPr kumimoji="0" lang="en-US" altLang="en-US" sz="2400" b="0" i="0" u="none" strike="noStrike" cap="none" normalizeH="0" baseline="0" dirty="0">
                <a:ln>
                  <a:noFill/>
                </a:ln>
                <a:solidFill>
                  <a:schemeClr val="tx1"/>
                </a:solidFill>
                <a:effectLst/>
                <a:latin typeface="Arial" panose="020B0604020202020204" pitchFamily="34" charset="0"/>
              </a:rPr>
              <a:t>: MAE, RMSE (Hyndman &amp; Koehler, 2006), DA (Direction Accuracy) (</a:t>
            </a:r>
            <a:r>
              <a:rPr kumimoji="0" lang="en-US" altLang="en-US" sz="2400" b="0" i="0" u="none" strike="noStrike" cap="none" normalizeH="0" baseline="0" dirty="0" err="1">
                <a:ln>
                  <a:noFill/>
                </a:ln>
                <a:solidFill>
                  <a:schemeClr val="tx1"/>
                </a:solidFill>
                <a:effectLst/>
                <a:latin typeface="Arial" panose="020B0604020202020204" pitchFamily="34" charset="0"/>
              </a:rPr>
              <a:t>Makridakis</a:t>
            </a:r>
            <a:r>
              <a:rPr kumimoji="0" lang="en-US" altLang="en-US" sz="2400" b="0" i="0" u="none" strike="noStrike" cap="none" normalizeH="0" baseline="0" dirty="0">
                <a:ln>
                  <a:noFill/>
                </a:ln>
                <a:solidFill>
                  <a:schemeClr val="tx1"/>
                </a:solidFill>
                <a:effectLst/>
                <a:latin typeface="Arial" panose="020B0604020202020204" pitchFamily="34" charset="0"/>
              </a:rPr>
              <a:t>, 1993); </a:t>
            </a:r>
            <a:r>
              <a:rPr kumimoji="0" lang="en-US" altLang="en-US" sz="2400" b="0" i="0" u="none" strike="noStrike" cap="none" normalizeH="0" baseline="0" dirty="0" err="1">
                <a:ln>
                  <a:noFill/>
                </a:ln>
                <a:solidFill>
                  <a:schemeClr val="tx1"/>
                </a:solidFill>
                <a:effectLst/>
                <a:latin typeface="Arial" panose="020B0604020202020204" pitchFamily="34" charset="0"/>
              </a:rPr>
              <a:t>backtesting</a:t>
            </a:r>
            <a:r>
              <a:rPr kumimoji="0" lang="en-US" altLang="en-US" sz="2400" b="0" i="0" u="none" strike="noStrike" cap="none" normalizeH="0" baseline="0" dirty="0">
                <a:ln>
                  <a:noFill/>
                </a:ln>
                <a:solidFill>
                  <a:schemeClr val="tx1"/>
                </a:solidFill>
                <a:effectLst/>
                <a:latin typeface="Arial" panose="020B0604020202020204" pitchFamily="34" charset="0"/>
              </a:rPr>
              <a:t> (Bailey et al., 2014).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Visualization</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Streamlit</a:t>
            </a:r>
            <a:r>
              <a:rPr kumimoji="0" lang="en-US" altLang="en-US" sz="2400" b="0" i="0" u="none" strike="noStrike" cap="none" normalizeH="0" baseline="0" dirty="0">
                <a:ln>
                  <a:noFill/>
                </a:ln>
                <a:solidFill>
                  <a:schemeClr val="tx1"/>
                </a:solidFill>
                <a:effectLst/>
                <a:latin typeface="Arial" panose="020B0604020202020204" pitchFamily="34" charset="0"/>
              </a:rPr>
              <a:t> dashboard (</a:t>
            </a:r>
            <a:r>
              <a:rPr kumimoji="0" lang="en-US" altLang="en-US" sz="2400" b="0" i="0" u="none" strike="noStrike" cap="none" normalizeH="0" baseline="0" dirty="0" err="1">
                <a:ln>
                  <a:noFill/>
                </a:ln>
                <a:solidFill>
                  <a:schemeClr val="tx1"/>
                </a:solidFill>
                <a:effectLst/>
                <a:latin typeface="Arial" panose="020B0604020202020204" pitchFamily="34" charset="0"/>
              </a:rPr>
              <a:t>Streamlit</a:t>
            </a:r>
            <a:r>
              <a:rPr kumimoji="0" lang="en-US" altLang="en-US" sz="2400" b="0" i="0" u="none" strike="noStrike" cap="none" normalizeH="0" baseline="0" dirty="0">
                <a:ln>
                  <a:noFill/>
                </a:ln>
                <a:solidFill>
                  <a:schemeClr val="tx1"/>
                </a:solidFill>
                <a:effectLst/>
                <a:latin typeface="Arial" panose="020B0604020202020204" pitchFamily="34" charset="0"/>
              </a:rPr>
              <a:t> Team, 2020); comparative charts (Few, 2006).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Gaps</a:t>
            </a:r>
            <a:r>
              <a:rPr kumimoji="0" lang="en-US" altLang="en-US" sz="2400" b="0" i="0" u="none" strike="noStrike" cap="none" normalizeH="0" baseline="0" dirty="0">
                <a:ln>
                  <a:noFill/>
                </a:ln>
                <a:solidFill>
                  <a:schemeClr val="tx1"/>
                </a:solidFill>
                <a:effectLst/>
                <a:latin typeface="Arial" panose="020B0604020202020204" pitchFamily="34" charset="0"/>
              </a:rPr>
              <a:t>: Limited multi-model real-time integration; high DA (Direction Accuracy) suggests normalization needs (Goodfellow et al., 2016). </a:t>
            </a:r>
          </a:p>
        </p:txBody>
      </p:sp>
    </p:spTree>
    <p:extLst>
      <p:ext uri="{BB962C8B-B14F-4D97-AF65-F5344CB8AC3E}">
        <p14:creationId xmlns:p14="http://schemas.microsoft.com/office/powerpoint/2010/main" val="18531689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0384ACA-8000-E053-3861-553481A73F97}"/>
              </a:ext>
            </a:extLst>
          </p:cNvPr>
          <p:cNvSpPr txBox="1"/>
          <p:nvPr/>
        </p:nvSpPr>
        <p:spPr>
          <a:xfrm>
            <a:off x="4031226" y="1123023"/>
            <a:ext cx="6096000" cy="584775"/>
          </a:xfrm>
          <a:prstGeom prst="rect">
            <a:avLst/>
          </a:prstGeom>
          <a:noFill/>
        </p:spPr>
        <p:txBody>
          <a:bodyPr wrap="square">
            <a:spAutoFit/>
          </a:bodyPr>
          <a:lstStyle/>
          <a:p>
            <a:r>
              <a:rPr lang="en-IN" sz="3200" b="1" i="0" u="none" strike="noStrike" dirty="0">
                <a:solidFill>
                  <a:srgbClr val="000000"/>
                </a:solidFill>
                <a:effectLst/>
                <a:latin typeface="Times New Roman" panose="02020603050405020304" pitchFamily="18" charset="0"/>
              </a:rPr>
              <a:t>EXISTING SYSTEM</a:t>
            </a:r>
            <a:endParaRPr lang="en-IN" sz="3200" dirty="0"/>
          </a:p>
        </p:txBody>
      </p:sp>
      <p:sp>
        <p:nvSpPr>
          <p:cNvPr id="5" name="TextBox 4">
            <a:extLst>
              <a:ext uri="{FF2B5EF4-FFF2-40B4-BE49-F238E27FC236}">
                <a16:creationId xmlns:a16="http://schemas.microsoft.com/office/drawing/2014/main" id="{DFD3DFAD-6CEB-DCA4-CE38-4F7BE1CF7E27}"/>
              </a:ext>
            </a:extLst>
          </p:cNvPr>
          <p:cNvSpPr txBox="1"/>
          <p:nvPr/>
        </p:nvSpPr>
        <p:spPr>
          <a:xfrm>
            <a:off x="540773" y="1892649"/>
            <a:ext cx="11110453" cy="3693319"/>
          </a:xfrm>
          <a:prstGeom prst="rect">
            <a:avLst/>
          </a:prstGeom>
          <a:noFill/>
        </p:spPr>
        <p:txBody>
          <a:bodyPr wrap="square">
            <a:spAutoFit/>
          </a:bodyPr>
          <a:lstStyle/>
          <a:p>
            <a:pPr>
              <a:buNone/>
            </a:pPr>
            <a:r>
              <a:rPr lang="en-US" dirty="0">
                <a:effectLst/>
              </a:rPr>
              <a:t>The "</a:t>
            </a:r>
            <a:r>
              <a:rPr lang="en-US" dirty="0" err="1">
                <a:effectLst/>
              </a:rPr>
              <a:t>AlgoTrade</a:t>
            </a:r>
            <a:r>
              <a:rPr lang="en-US" dirty="0">
                <a:effectLst/>
              </a:rPr>
              <a:t> AI — </a:t>
            </a:r>
            <a:r>
              <a:rPr lang="en-US" dirty="0" err="1">
                <a:effectLst/>
              </a:rPr>
              <a:t>MarketPulse</a:t>
            </a:r>
            <a:r>
              <a:rPr lang="en-US" dirty="0">
                <a:effectLst/>
              </a:rPr>
              <a:t> Optimizer" project operates within the context of existing systems and methodologies in algorithmic trading, leveraging current technologies and practices to address the challenges of financial market analysis. As of 05:44 PM IST on October 11, 2025, the existing system can be described based on its current implementation and the broader landscape it fits into, inferred from the provided outputs and project description.</a:t>
            </a:r>
          </a:p>
          <a:p>
            <a:pPr>
              <a:buNone/>
            </a:pPr>
            <a:r>
              <a:rPr lang="en-US" b="1" dirty="0"/>
              <a:t>Components of the Existing System</a:t>
            </a:r>
          </a:p>
          <a:p>
            <a:pPr>
              <a:buFont typeface="+mj-lt"/>
              <a:buAutoNum type="arabicPeriod"/>
            </a:pPr>
            <a:r>
              <a:rPr lang="en-US" b="1" dirty="0"/>
              <a:t>Data Acquisition</a:t>
            </a:r>
            <a:r>
              <a:rPr lang="en-US" dirty="0"/>
              <a:t>: </a:t>
            </a:r>
          </a:p>
          <a:p>
            <a:pPr marL="742950" lvl="1" indent="-285750">
              <a:buFont typeface="+mj-lt"/>
              <a:buAutoNum type="arabicPeriod"/>
            </a:pPr>
            <a:r>
              <a:rPr lang="en-US" b="1" dirty="0"/>
              <a:t>Source</a:t>
            </a:r>
            <a:r>
              <a:rPr lang="en-US" dirty="0"/>
              <a:t>: Utilizes real-time data from Yahoo Finance, a widely accessible platform providing historical and current crypto prices, volumes, and other financial metrics for stocks like AAPL.</a:t>
            </a:r>
          </a:p>
          <a:p>
            <a:pPr marL="742950" lvl="1" indent="-285750">
              <a:buFont typeface="+mj-lt"/>
              <a:buAutoNum type="arabicPeriod"/>
            </a:pPr>
            <a:r>
              <a:rPr lang="en-US" b="1" dirty="0"/>
              <a:t>Processing</a:t>
            </a:r>
            <a:r>
              <a:rPr lang="en-US" dirty="0"/>
              <a:t>: Automatically retrieves data based on user-defined parameters (e.g., ticker, start date of 2015/01/01) and computes ten key technical indicators, including Simple Moving Average (SMA), Relative Strength Index (RSI), Moving Average Convergence Divergence (MACD), Stochastic Oscillator, and Commodity Channel Index (CCI).</a:t>
            </a:r>
          </a:p>
        </p:txBody>
      </p:sp>
    </p:spTree>
    <p:extLst>
      <p:ext uri="{BB962C8B-B14F-4D97-AF65-F5344CB8AC3E}">
        <p14:creationId xmlns:p14="http://schemas.microsoft.com/office/powerpoint/2010/main" val="1874636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952F0BA-D40F-7B3E-D99F-E48B55E12D40}"/>
              </a:ext>
            </a:extLst>
          </p:cNvPr>
          <p:cNvSpPr>
            <a:spLocks noChangeArrowheads="1"/>
          </p:cNvSpPr>
          <p:nvPr/>
        </p:nvSpPr>
        <p:spPr bwMode="auto">
          <a:xfrm>
            <a:off x="428729" y="1875729"/>
            <a:ext cx="11334541"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Predictive Modeling</a:t>
            </a:r>
            <a:r>
              <a:rPr kumimoji="0" lang="en-US" altLang="en-US" sz="18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Models</a:t>
            </a:r>
            <a:r>
              <a:rPr kumimoji="0" lang="en-US" altLang="en-US" sz="1800" b="0" i="0" u="none" strike="noStrike" cap="none" normalizeH="0" baseline="0" dirty="0">
                <a:ln>
                  <a:noFill/>
                </a:ln>
                <a:solidFill>
                  <a:schemeClr val="tx1"/>
                </a:solidFill>
                <a:effectLst/>
              </a:rPr>
              <a:t>: Employs three established machine learning algorithms: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rPr>
              <a:t>XGBoost</a:t>
            </a:r>
            <a:r>
              <a:rPr kumimoji="0" lang="en-US" altLang="en-US" sz="1800" b="0" i="0" u="none" strike="noStrike" cap="none" normalizeH="0" baseline="0" dirty="0">
                <a:ln>
                  <a:noFill/>
                </a:ln>
                <a:solidFill>
                  <a:schemeClr val="tx1"/>
                </a:solidFill>
                <a:effectLst/>
              </a:rPr>
              <a:t>: A gradient boosting framework for handling tabular data with high accuracy.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Random Forest</a:t>
            </a:r>
            <a:r>
              <a:rPr kumimoji="0" lang="en-US" altLang="en-US" sz="1800" b="0" i="0" u="none" strike="noStrike" cap="none" normalizeH="0" baseline="0" dirty="0">
                <a:ln>
                  <a:noFill/>
                </a:ln>
                <a:solidFill>
                  <a:schemeClr val="tx1"/>
                </a:solidFill>
                <a:effectLst/>
              </a:rPr>
              <a:t>: An ensemble method providing robust predictions by reducing overfitting.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LSTM</a:t>
            </a:r>
            <a:r>
              <a:rPr kumimoji="0" lang="en-US" altLang="en-US" sz="1800" b="0" i="0" u="none" strike="noStrike" cap="none" normalizeH="0" baseline="0" dirty="0">
                <a:ln>
                  <a:noFill/>
                </a:ln>
                <a:solidFill>
                  <a:schemeClr val="tx1"/>
                </a:solidFill>
                <a:effectLst/>
              </a:rPr>
              <a:t>: A deep learning model tailored for time-series data, using a configurable window (default 10 days) for sequential analysis.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Training</a:t>
            </a:r>
            <a:r>
              <a:rPr kumimoji="0" lang="en-US" altLang="en-US" sz="1800" b="0" i="0" u="none" strike="noStrike" cap="none" normalizeH="0" baseline="0" dirty="0">
                <a:ln>
                  <a:noFill/>
                </a:ln>
                <a:solidFill>
                  <a:schemeClr val="tx1"/>
                </a:solidFill>
                <a:effectLst/>
              </a:rPr>
              <a:t>: Models are trained on historical data to forecast next-day stock returns, with performance evaluated using Mean Absolute Error (MAE), Root Mean Square Error (RMSE), and Mean Absolute Percentage Error (DA (Direction Accuracy)).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Strategy Development and </a:t>
            </a:r>
            <a:r>
              <a:rPr kumimoji="0" lang="en-US" altLang="en-US" sz="1800" b="1" i="0" u="none" strike="noStrike" cap="none" normalizeH="0" baseline="0" dirty="0" err="1">
                <a:ln>
                  <a:noFill/>
                </a:ln>
                <a:solidFill>
                  <a:schemeClr val="tx1"/>
                </a:solidFill>
                <a:effectLst/>
              </a:rPr>
              <a:t>Backtesting</a:t>
            </a:r>
            <a:r>
              <a:rPr kumimoji="0" lang="en-US" altLang="en-US" sz="18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Strategy Generation</a:t>
            </a:r>
            <a:r>
              <a:rPr kumimoji="0" lang="en-US" altLang="en-US" sz="1800" b="0" i="0" u="none" strike="noStrike" cap="none" normalizeH="0" baseline="0" dirty="0">
                <a:ln>
                  <a:noFill/>
                </a:ln>
                <a:solidFill>
                  <a:schemeClr val="tx1"/>
                </a:solidFill>
                <a:effectLst/>
              </a:rPr>
              <a:t>: Generates trading signals (e.g., buy, sell, hold) based on model predictions, though the current </a:t>
            </a:r>
            <a:r>
              <a:rPr kumimoji="0" lang="en-US" altLang="en-US" sz="1800" b="0" i="0" u="none" strike="noStrike" cap="none" normalizeH="0" baseline="0" dirty="0" err="1">
                <a:ln>
                  <a:noFill/>
                </a:ln>
                <a:solidFill>
                  <a:schemeClr val="tx1"/>
                </a:solidFill>
                <a:effectLst/>
              </a:rPr>
              <a:t>XGBoost</a:t>
            </a:r>
            <a:r>
              <a:rPr kumimoji="0" lang="en-US" altLang="en-US" sz="1800" b="0" i="0" u="none" strike="noStrike" cap="none" normalizeH="0" baseline="0" dirty="0">
                <a:ln>
                  <a:noFill/>
                </a:ln>
                <a:solidFill>
                  <a:schemeClr val="tx1"/>
                </a:solidFill>
                <a:effectLst/>
              </a:rPr>
              <a:t> strategy shows no active signals (all 0) in recent outputs.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rPr>
              <a:t>Backtesting</a:t>
            </a:r>
            <a:r>
              <a:rPr kumimoji="0" lang="en-US" altLang="en-US" sz="1800" b="0" i="0" u="none" strike="noStrike" cap="none" normalizeH="0" baseline="0" dirty="0">
                <a:ln>
                  <a:noFill/>
                </a:ln>
                <a:solidFill>
                  <a:schemeClr val="tx1"/>
                </a:solidFill>
                <a:effectLst/>
              </a:rPr>
              <a:t>: Simulates trading performance over the historical period, comparing cumulative returns of the strategy against a buy-and-hold benchmark. The existing system visualizes this via a </a:t>
            </a:r>
            <a:r>
              <a:rPr kumimoji="0" lang="en-US" altLang="en-US" sz="1800" b="0" i="0" u="none" strike="noStrike" cap="none" normalizeH="0" baseline="0" dirty="0" err="1">
                <a:ln>
                  <a:noFill/>
                </a:ln>
                <a:solidFill>
                  <a:schemeClr val="tx1"/>
                </a:solidFill>
                <a:effectLst/>
              </a:rPr>
              <a:t>Streamlit</a:t>
            </a:r>
            <a:r>
              <a:rPr kumimoji="0" lang="en-US" altLang="en-US" sz="1800" b="0" i="0" u="none" strike="noStrike" cap="none" normalizeH="0" baseline="0" dirty="0">
                <a:ln>
                  <a:noFill/>
                </a:ln>
                <a:solidFill>
                  <a:schemeClr val="tx1"/>
                </a:solidFill>
                <a:effectLst/>
              </a:rPr>
              <a:t> dashboard, showing flat strategy returns (e.g., 1.1841) versus a 50% growth in buy-and-hold for AAPL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endParaRPr>
          </a:p>
        </p:txBody>
      </p:sp>
      <p:sp>
        <p:nvSpPr>
          <p:cNvPr id="4" name="TextBox 3">
            <a:extLst>
              <a:ext uri="{FF2B5EF4-FFF2-40B4-BE49-F238E27FC236}">
                <a16:creationId xmlns:a16="http://schemas.microsoft.com/office/drawing/2014/main" id="{CDCA8919-33A8-B319-0E6C-7771E11BDD5D}"/>
              </a:ext>
            </a:extLst>
          </p:cNvPr>
          <p:cNvSpPr txBox="1"/>
          <p:nvPr/>
        </p:nvSpPr>
        <p:spPr>
          <a:xfrm>
            <a:off x="4680155" y="788728"/>
            <a:ext cx="6096000" cy="461665"/>
          </a:xfrm>
          <a:prstGeom prst="rect">
            <a:avLst/>
          </a:prstGeom>
          <a:noFill/>
        </p:spPr>
        <p:txBody>
          <a:bodyPr wrap="square">
            <a:spAutoFit/>
          </a:bodyPr>
          <a:lstStyle/>
          <a:p>
            <a:r>
              <a:rPr lang="en-IN" sz="2400" b="1" i="0" u="none" strike="noStrike" dirty="0">
                <a:solidFill>
                  <a:srgbClr val="000000"/>
                </a:solidFill>
                <a:effectLst/>
                <a:latin typeface="Times New Roman" panose="02020603050405020304" pitchFamily="18" charset="0"/>
              </a:rPr>
              <a:t>EXISTING SYSTEM</a:t>
            </a:r>
            <a:endParaRPr lang="en-IN" sz="2400" dirty="0"/>
          </a:p>
        </p:txBody>
      </p:sp>
    </p:spTree>
    <p:extLst>
      <p:ext uri="{BB962C8B-B14F-4D97-AF65-F5344CB8AC3E}">
        <p14:creationId xmlns:p14="http://schemas.microsoft.com/office/powerpoint/2010/main" val="37915728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22DB91-CAF6-92C3-C8B3-0564F1C6E96D}"/>
              </a:ext>
            </a:extLst>
          </p:cNvPr>
          <p:cNvSpPr txBox="1"/>
          <p:nvPr/>
        </p:nvSpPr>
        <p:spPr>
          <a:xfrm>
            <a:off x="1376516" y="2287126"/>
            <a:ext cx="9438967" cy="1754326"/>
          </a:xfrm>
          <a:prstGeom prst="rect">
            <a:avLst/>
          </a:prstGeom>
          <a:noFill/>
        </p:spPr>
        <p:txBody>
          <a:bodyPr wrap="square">
            <a:spAutoFit/>
          </a:bodyPr>
          <a:lstStyle/>
          <a:p>
            <a:pPr>
              <a:buFont typeface="Arial" panose="020B0604020202020204" pitchFamily="34" charset="0"/>
              <a:buChar char="•"/>
            </a:pPr>
            <a:r>
              <a:rPr lang="en-US" b="1" dirty="0"/>
              <a:t>User Interface</a:t>
            </a:r>
            <a:r>
              <a:rPr lang="en-US" dirty="0"/>
              <a:t>: </a:t>
            </a:r>
            <a:r>
              <a:rPr lang="en-US" b="1" dirty="0"/>
              <a:t>Dashboard</a:t>
            </a:r>
            <a:r>
              <a:rPr lang="en-US" dirty="0"/>
              <a:t>: An interactive </a:t>
            </a:r>
            <a:r>
              <a:rPr lang="en-US" dirty="0" err="1"/>
              <a:t>Streamlit</a:t>
            </a:r>
            <a:r>
              <a:rPr lang="en-US" dirty="0"/>
              <a:t>-based interface allows users to configure parameters (stock symbol, start date, model choice, LSTM window size), run the pipeline, and view results. It includes: </a:t>
            </a:r>
          </a:p>
          <a:p>
            <a:pPr marL="742950" lvl="1" indent="-285750">
              <a:buFont typeface="Arial" panose="020B0604020202020204" pitchFamily="34" charset="0"/>
              <a:buChar char="•"/>
            </a:pPr>
            <a:r>
              <a:rPr lang="en-US" dirty="0"/>
              <a:t>Model performance metrics (RMSE, DA (Direction Accuracy)).</a:t>
            </a:r>
          </a:p>
          <a:p>
            <a:pPr marL="742950" lvl="1" indent="-285750">
              <a:buFont typeface="Arial" panose="020B0604020202020204" pitchFamily="34" charset="0"/>
              <a:buChar char="•"/>
            </a:pPr>
            <a:r>
              <a:rPr lang="en-US" dirty="0"/>
              <a:t>Cumulative return charts.</a:t>
            </a:r>
          </a:p>
          <a:p>
            <a:pPr marL="742950" lvl="1" indent="-285750">
              <a:buFont typeface="Arial" panose="020B0604020202020204" pitchFamily="34" charset="0"/>
              <a:buChar char="•"/>
            </a:pPr>
            <a:r>
              <a:rPr lang="en-US" dirty="0"/>
              <a:t>Recent predictions and signals table with exportable CSV data.</a:t>
            </a:r>
          </a:p>
        </p:txBody>
      </p:sp>
    </p:spTree>
    <p:extLst>
      <p:ext uri="{BB962C8B-B14F-4D97-AF65-F5344CB8AC3E}">
        <p14:creationId xmlns:p14="http://schemas.microsoft.com/office/powerpoint/2010/main" val="3867057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F9267DF-BCCF-5FEB-E6DD-4100B64C1D44}"/>
              </a:ext>
            </a:extLst>
          </p:cNvPr>
          <p:cNvSpPr txBox="1"/>
          <p:nvPr/>
        </p:nvSpPr>
        <p:spPr>
          <a:xfrm>
            <a:off x="511278" y="247953"/>
            <a:ext cx="6096000" cy="769441"/>
          </a:xfrm>
          <a:prstGeom prst="rect">
            <a:avLst/>
          </a:prstGeom>
          <a:noFill/>
        </p:spPr>
        <p:txBody>
          <a:bodyPr wrap="square">
            <a:spAutoFit/>
          </a:bodyPr>
          <a:lstStyle/>
          <a:p>
            <a:r>
              <a:rPr lang="en-IN" sz="4400" b="0" i="0" u="none" strike="noStrike" dirty="0">
                <a:solidFill>
                  <a:srgbClr val="000000"/>
                </a:solidFill>
                <a:effectLst/>
                <a:latin typeface="Times New Roman" panose="02020603050405020304" pitchFamily="18" charset="0"/>
              </a:rPr>
              <a:t>LIMITATIONS</a:t>
            </a:r>
            <a:endParaRPr lang="en-IN" sz="4400" dirty="0"/>
          </a:p>
        </p:txBody>
      </p:sp>
      <p:sp>
        <p:nvSpPr>
          <p:cNvPr id="4" name="Rectangle 1">
            <a:extLst>
              <a:ext uri="{FF2B5EF4-FFF2-40B4-BE49-F238E27FC236}">
                <a16:creationId xmlns:a16="http://schemas.microsoft.com/office/drawing/2014/main" id="{00F5F441-4999-D112-6611-AE868AAA339B}"/>
              </a:ext>
            </a:extLst>
          </p:cNvPr>
          <p:cNvSpPr>
            <a:spLocks noChangeArrowheads="1"/>
          </p:cNvSpPr>
          <p:nvPr/>
        </p:nvSpPr>
        <p:spPr bwMode="auto">
          <a:xfrm>
            <a:off x="304800" y="1213218"/>
            <a:ext cx="10601011" cy="5436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Inconsistent Model Performance</a:t>
            </a:r>
            <a:r>
              <a:rPr kumimoji="0" lang="en-US" altLang="en-US" sz="1800" b="0" i="0" u="none" strike="noStrike" cap="none" normalizeH="0" baseline="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The high Mean Absolute Percentage Error (DA (Direction Accuracy)) values (e.g., 266308.992% for XGBoost, 53501.503% for LSTM) suggest potential issues with data scaling, normalization, or model overfitting. This indicates that the predictive accuracy, despite a low RMSE for LSTM (0.017827), may not translate into reliable percentage-based forecasts.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Ineffective Signal Generation</a:t>
            </a:r>
            <a:r>
              <a:rPr kumimoji="0" lang="en-US" altLang="en-US" sz="1800" b="0" i="0" u="none" strike="noStrike" cap="none" normalizeH="0" baseline="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The current XGBoost strategy produces no active trading signals (all signals are 0 in the "Recent Predictions &amp; Signals" table), leading to flat cumulative returns (e.g., 1.1841) from October 2023 to July 2025. This underperformance compared to the buy-and-hold strategy (50% growth) suggests a lack of actionable insights from the model.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Static Data Analysis</a:t>
            </a:r>
            <a:r>
              <a:rPr kumimoji="0" lang="en-US" altLang="en-US" sz="1800" b="0" i="0" u="none" strike="noStrike" cap="none" normalizeH="0" baseline="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The system relies on historical data starting from January 1, 2015, with no real-time adaptability. It lacks the capability to process live market updates, limiting its responsiveness to current market conditions as of October 11, 2025.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Single-Asset Focus</a:t>
            </a:r>
            <a:r>
              <a:rPr kumimoji="0" lang="en-US" altLang="en-US" sz="1800" b="0" i="0" u="none" strike="noStrike" cap="none" normalizeH="0" baseline="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The prototype is tailored to a single stock (AAPL), restricting its applicability to other asset classes (e.g., forex, cryptocurrencies) or portfolio-level analysis, which are critical for diversified trading strategies.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888345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9DFB1D2-2E81-F814-2667-A12E932D2EA0}"/>
              </a:ext>
            </a:extLst>
          </p:cNvPr>
          <p:cNvSpPr>
            <a:spLocks noChangeArrowheads="1"/>
          </p:cNvSpPr>
          <p:nvPr/>
        </p:nvSpPr>
        <p:spPr bwMode="auto">
          <a:xfrm>
            <a:off x="698091" y="1705680"/>
            <a:ext cx="10648335"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b="1">
                <a:solidFill>
                  <a:srgbClr val="00E676"/>
                </a:solidFill>
              </a:rPr>
              <a:t>Current Limitations of Our System:</a:t>
            </a:r>
          </a:p>
          <a:p>
            <a:pPr marL="0" marR="0" lvl="0" indent="0" algn="l" defTabSz="914400" rtl="0" eaLnBrk="0" fontAlgn="base" latinLnBrk="0" hangingPunct="0">
              <a:lnSpc>
                <a:spcPct val="100000"/>
              </a:lnSpc>
              <a:spcBef>
                <a:spcPct val="0"/>
              </a:spcBef>
              <a:spcAft>
                <a:spcPct val="0"/>
              </a:spcAft>
              <a:buClrTx/>
              <a:buSzTx/>
              <a:buFontTx/>
              <a:buChar char="•"/>
              <a:tabLst/>
            </a:pPr>
            <a:r>
              <a:rPr b="0"/>
              <a:t/>
            </a:r>
          </a:p>
          <a:p>
            <a:pPr marL="0" marR="0" lvl="0" indent="0" algn="l" defTabSz="914400" rtl="0" eaLnBrk="0" fontAlgn="base" latinLnBrk="0" hangingPunct="0">
              <a:lnSpc>
                <a:spcPct val="100000"/>
              </a:lnSpc>
              <a:spcBef>
                <a:spcPct val="0"/>
              </a:spcBef>
              <a:spcAft>
                <a:spcPct val="0"/>
              </a:spcAft>
              <a:buClrTx/>
              <a:buSzTx/>
              <a:buFontTx/>
              <a:buChar char="•"/>
              <a:tabLst/>
            </a:pPr>
            <a:r>
              <a:rPr b="1">
                <a:solidFill>
                  <a:srgbClr val="00E676"/>
                </a:solidFill>
              </a:rPr>
              <a:t>Short-Term Focus Only:</a:t>
            </a:r>
          </a:p>
          <a:p>
            <a:pPr marL="0" marR="0" lvl="0" indent="0" algn="l" defTabSz="914400" rtl="0" eaLnBrk="0" fontAlgn="base" latinLnBrk="0" hangingPunct="0">
              <a:lnSpc>
                <a:spcPct val="100000"/>
              </a:lnSpc>
              <a:spcBef>
                <a:spcPct val="0"/>
              </a:spcBef>
              <a:spcAft>
                <a:spcPct val="0"/>
              </a:spcAft>
              <a:buClrTx/>
              <a:buSzTx/>
              <a:buFontTx/>
              <a:buChar char="•"/>
              <a:tabLst/>
            </a:pPr>
            <a:r>
              <a:rPr b="0"/>
              <a:t>The current model predicts 1-day-ahead returns. It does not support multi-day or swing trading strategies that require longer forecasting horizons.</a:t>
            </a:r>
          </a:p>
          <a:p>
            <a:pPr marL="0" marR="0" lvl="0" indent="0" algn="l" defTabSz="914400" rtl="0" eaLnBrk="0" fontAlgn="base" latinLnBrk="0" hangingPunct="0">
              <a:lnSpc>
                <a:spcPct val="100000"/>
              </a:lnSpc>
              <a:spcBef>
                <a:spcPct val="0"/>
              </a:spcBef>
              <a:spcAft>
                <a:spcPct val="0"/>
              </a:spcAft>
              <a:buClrTx/>
              <a:buSzTx/>
              <a:buFontTx/>
              <a:buChar char="•"/>
              <a:tabLst/>
            </a:pPr>
            <a:r>
              <a:rPr b="0"/>
              <a:t/>
            </a:r>
          </a:p>
          <a:p>
            <a:pPr marL="0" marR="0" lvl="0" indent="0" algn="l" defTabSz="914400" rtl="0" eaLnBrk="0" fontAlgn="base" latinLnBrk="0" hangingPunct="0">
              <a:lnSpc>
                <a:spcPct val="100000"/>
              </a:lnSpc>
              <a:spcBef>
                <a:spcPct val="0"/>
              </a:spcBef>
              <a:spcAft>
                <a:spcPct val="0"/>
              </a:spcAft>
              <a:buClrTx/>
              <a:buSzTx/>
              <a:buFontTx/>
              <a:buChar char="•"/>
              <a:tabLst/>
            </a:pPr>
            <a:r>
              <a:rPr b="1">
                <a:solidFill>
                  <a:srgbClr val="00E676"/>
                </a:solidFill>
              </a:rPr>
              <a:t>Single Asset at a Time:</a:t>
            </a:r>
          </a:p>
          <a:p>
            <a:pPr marL="0" marR="0" lvl="0" indent="0" algn="l" defTabSz="914400" rtl="0" eaLnBrk="0" fontAlgn="base" latinLnBrk="0" hangingPunct="0">
              <a:lnSpc>
                <a:spcPct val="100000"/>
              </a:lnSpc>
              <a:spcBef>
                <a:spcPct val="0"/>
              </a:spcBef>
              <a:spcAft>
                <a:spcPct val="0"/>
              </a:spcAft>
              <a:buClrTx/>
              <a:buSzTx/>
              <a:buFontTx/>
              <a:buChar char="•"/>
              <a:tabLst/>
            </a:pPr>
            <a:r>
              <a:rPr b="0"/>
              <a:t>The system analyses one crypto ticker per run. Portfolio-level optimisation across multiple assets simultaneously is not yet supported.</a:t>
            </a:r>
          </a:p>
          <a:p>
            <a:pPr marL="0" marR="0" lvl="0" indent="0" algn="l" defTabSz="914400" rtl="0" eaLnBrk="0" fontAlgn="base" latinLnBrk="0" hangingPunct="0">
              <a:lnSpc>
                <a:spcPct val="100000"/>
              </a:lnSpc>
              <a:spcBef>
                <a:spcPct val="0"/>
              </a:spcBef>
              <a:spcAft>
                <a:spcPct val="0"/>
              </a:spcAft>
              <a:buClrTx/>
              <a:buSzTx/>
              <a:buFontTx/>
              <a:buChar char="•"/>
              <a:tabLst/>
            </a:pPr>
            <a:r>
              <a:rPr b="0"/>
              <a:t/>
            </a:r>
          </a:p>
          <a:p>
            <a:pPr marL="0" marR="0" lvl="0" indent="0" algn="l" defTabSz="914400" rtl="0" eaLnBrk="0" fontAlgn="base" latinLnBrk="0" hangingPunct="0">
              <a:lnSpc>
                <a:spcPct val="100000"/>
              </a:lnSpc>
              <a:spcBef>
                <a:spcPct val="0"/>
              </a:spcBef>
              <a:spcAft>
                <a:spcPct val="0"/>
              </a:spcAft>
              <a:buClrTx/>
              <a:buSzTx/>
              <a:buFontTx/>
              <a:buNone/>
              <a:tabLst/>
            </a:pPr>
            <a:r>
              <a:rPr b="1">
                <a:solidFill>
                  <a:srgbClr val="00E676"/>
                </a:solidFill>
              </a:rPr>
              <a:t>No Live Trade Execution:</a:t>
            </a:r>
            <a:endParaRPr kumimoji="0" lang="en-US" altLang="en-US" sz="1800" b="0" i="0" u="none" strike="noStrike" cap="none" normalizeH="0" baseline="0">
              <a:ln>
                <a:noFill/>
              </a:ln>
              <a:solidFill>
                <a:schemeClr val="tx1"/>
              </a:solidFill>
              <a:effectLst/>
              <a:latin typeface="Arial" panose="020B0604020202020204" pitchFamily="34" charset="0"/>
            </a:endParaRPr>
          </a:p>
          <a:p>
            <a:r>
              <a:rPr b="0"/>
              <a:t>The system generates signals and backtests on historical data but does not connect to a live trading API (e.g., Binance, Alpaca) for automated execution.</a:t>
            </a:r>
          </a:p>
          <a:p>
            <a:r>
              <a:rPr b="0"/>
              <a:t/>
            </a:r>
          </a:p>
          <a:p>
            <a:r>
              <a:rPr b="1">
                <a:solidFill>
                  <a:srgbClr val="00E676"/>
                </a:solidFill>
              </a:rPr>
              <a:t>No Sentiment Analysis:</a:t>
            </a:r>
          </a:p>
          <a:p>
            <a:r>
              <a:rPr b="0"/>
              <a:t>Market-moving news, social media trends, and macroeconomic events are not captured by technical indicators alone. Sentiment data is not yet integrated.</a:t>
            </a:r>
          </a:p>
        </p:txBody>
      </p:sp>
    </p:spTree>
    <p:extLst>
      <p:ext uri="{BB962C8B-B14F-4D97-AF65-F5344CB8AC3E}">
        <p14:creationId xmlns:p14="http://schemas.microsoft.com/office/powerpoint/2010/main" val="12748719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1760C2B-A490-5F3F-CFC9-EAEC74CA5DA3}"/>
              </a:ext>
            </a:extLst>
          </p:cNvPr>
          <p:cNvSpPr txBox="1"/>
          <p:nvPr/>
        </p:nvSpPr>
        <p:spPr>
          <a:xfrm>
            <a:off x="285135" y="739567"/>
            <a:ext cx="7128387" cy="646331"/>
          </a:xfrm>
          <a:prstGeom prst="rect">
            <a:avLst/>
          </a:prstGeom>
          <a:noFill/>
        </p:spPr>
        <p:txBody>
          <a:bodyPr wrap="square">
            <a:spAutoFit/>
          </a:bodyPr>
          <a:lstStyle/>
          <a:p>
            <a:r>
              <a:rPr lang="en-IN" sz="3600" b="0" i="0" u="none" strike="noStrike" dirty="0">
                <a:solidFill>
                  <a:srgbClr val="000000"/>
                </a:solidFill>
                <a:effectLst/>
                <a:latin typeface="Times New Roman" panose="02020603050405020304" pitchFamily="18" charset="0"/>
              </a:rPr>
              <a:t>STANDARDS &amp; POLICIES USED</a:t>
            </a:r>
            <a:endParaRPr lang="en-IN" sz="3600" dirty="0"/>
          </a:p>
        </p:txBody>
      </p:sp>
      <p:sp>
        <p:nvSpPr>
          <p:cNvPr id="4" name="Rectangle 1">
            <a:extLst>
              <a:ext uri="{FF2B5EF4-FFF2-40B4-BE49-F238E27FC236}">
                <a16:creationId xmlns:a16="http://schemas.microsoft.com/office/drawing/2014/main" id="{75EA396F-25C7-931D-96E0-020B4EC7E8EF}"/>
              </a:ext>
            </a:extLst>
          </p:cNvPr>
          <p:cNvSpPr>
            <a:spLocks noChangeArrowheads="1"/>
          </p:cNvSpPr>
          <p:nvPr/>
        </p:nvSpPr>
        <p:spPr bwMode="auto">
          <a:xfrm>
            <a:off x="816078" y="1831452"/>
            <a:ext cx="1027471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Regulatory Compliance</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FINRA Rule 3110: Supervision and testing of algorithmic trading models (e.g., RMSE, DA (Direction Accuracy) validation).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SEC/CFTC Regulation AT: Risk controls and transparency via </a:t>
            </a:r>
            <a:r>
              <a:rPr kumimoji="0" lang="en-US" altLang="en-US" sz="1800" b="0" i="0" u="none" strike="noStrike" cap="none" normalizeH="0" baseline="0" dirty="0" err="1">
                <a:ln>
                  <a:noFill/>
                </a:ln>
                <a:solidFill>
                  <a:schemeClr val="tx1"/>
                </a:solidFill>
                <a:effectLst/>
                <a:latin typeface="Arial" panose="020B0604020202020204" pitchFamily="34" charset="0"/>
              </a:rPr>
              <a:t>backtesting</a:t>
            </a:r>
            <a:r>
              <a:rPr kumimoji="0" lang="en-US" altLang="en-US" sz="1800" b="0" i="0" u="none" strike="noStrike" cap="none" normalizeH="0" baseline="0" dirty="0">
                <a:ln>
                  <a:noFill/>
                </a:ln>
                <a:solidFill>
                  <a:schemeClr val="tx1"/>
                </a:solidFill>
                <a:effectLst/>
                <a:latin typeface="Arial" panose="020B0604020202020204" pitchFamily="34" charset="0"/>
              </a:rPr>
              <a:t> and data logging.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MiFID II RTS 6: Pre-trade checks and reliability principles applied in model evaluation.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Data Governance</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GDPR (if applicable): Uses public Yahoo Finance data, ensuring privacy via normalization.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ISO/IEC 25012: Ensures data accuracy and timeliness with real-time fetches and indicators.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Ethical AI</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NIST AI Risk Framework: Mitigates bias in LSTM and ensemble models.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OECD AI Principles: Provides transparency via </a:t>
            </a:r>
            <a:r>
              <a:rPr kumimoji="0" lang="en-US" altLang="en-US" sz="1800" b="0" i="0" u="none" strike="noStrike" cap="none" normalizeH="0" baseline="0" dirty="0" err="1">
                <a:ln>
                  <a:noFill/>
                </a:ln>
                <a:solidFill>
                  <a:schemeClr val="tx1"/>
                </a:solidFill>
                <a:effectLst/>
                <a:latin typeface="Arial" panose="020B0604020202020204" pitchFamily="34" charset="0"/>
              </a:rPr>
              <a:t>Streamlit</a:t>
            </a:r>
            <a:r>
              <a:rPr kumimoji="0" lang="en-US" altLang="en-US" sz="1800" b="0" i="0" u="none" strike="noStrike" cap="none" normalizeH="0" baseline="0" dirty="0">
                <a:ln>
                  <a:noFill/>
                </a:ln>
                <a:solidFill>
                  <a:schemeClr val="tx1"/>
                </a:solidFill>
                <a:effectLst/>
                <a:latin typeface="Arial" panose="020B0604020202020204" pitchFamily="34" charset="0"/>
              </a:rPr>
              <a:t> dashboard visuals.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Note</a:t>
            </a:r>
            <a:r>
              <a:rPr kumimoji="0" lang="en-US" altLang="en-US" sz="1800" b="0" i="0" u="none" strike="noStrike" cap="none" normalizeH="0" baseline="0" dirty="0">
                <a:ln>
                  <a:noFill/>
                </a:ln>
                <a:solidFill>
                  <a:schemeClr val="tx1"/>
                </a:solidFill>
                <a:effectLst/>
                <a:latin typeface="Arial" panose="020B0604020202020204" pitchFamily="34" charset="0"/>
              </a:rPr>
              <a:t>: As of 06:11 PM IST, Oct 11, 2025, prototype aligns with these for educational use. </a:t>
            </a:r>
          </a:p>
        </p:txBody>
      </p:sp>
    </p:spTree>
    <p:extLst>
      <p:ext uri="{BB962C8B-B14F-4D97-AF65-F5344CB8AC3E}">
        <p14:creationId xmlns:p14="http://schemas.microsoft.com/office/powerpoint/2010/main" val="27813324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1696D74-450F-468A-0BEB-807C834F3BAD}"/>
              </a:ext>
            </a:extLst>
          </p:cNvPr>
          <p:cNvSpPr>
            <a:spLocks noChangeArrowheads="1"/>
          </p:cNvSpPr>
          <p:nvPr/>
        </p:nvSpPr>
        <p:spPr bwMode="auto">
          <a:xfrm>
            <a:off x="1248697" y="1784834"/>
            <a:ext cx="9693958"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Risk Management</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FMSB Good Practice: </a:t>
            </a:r>
            <a:r>
              <a:rPr kumimoji="0" lang="en-US" altLang="en-US" sz="1800" b="0" i="0" u="none" strike="noStrike" cap="none" normalizeH="0" baseline="0" dirty="0" err="1">
                <a:ln>
                  <a:noFill/>
                </a:ln>
                <a:solidFill>
                  <a:schemeClr val="tx1"/>
                </a:solidFill>
                <a:effectLst/>
                <a:latin typeface="Arial" panose="020B0604020202020204" pitchFamily="34" charset="0"/>
              </a:rPr>
              <a:t>Backtesting</a:t>
            </a:r>
            <a:r>
              <a:rPr kumimoji="0" lang="en-US" altLang="en-US" sz="1800" b="0" i="0" u="none" strike="noStrike" cap="none" normalizeH="0" baseline="0" dirty="0">
                <a:ln>
                  <a:noFill/>
                </a:ln>
                <a:solidFill>
                  <a:schemeClr val="tx1"/>
                </a:solidFill>
                <a:effectLst/>
                <a:latin typeface="Arial" panose="020B0604020202020204" pitchFamily="34" charset="0"/>
              </a:rPr>
              <a:t> with signals and returns reflects market best practices.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CFA Institute Guidelines: Avoids overfitting with train-test splits and performance metrics.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Technical Standards</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PEP 8: Adheres to Python coding style for maintainable functions (e.g., </a:t>
            </a:r>
            <a:r>
              <a:rPr kumimoji="0" lang="en-US" altLang="en-US" sz="1800" b="0" i="0" u="none" strike="noStrike" cap="none" normalizeH="0" baseline="0" dirty="0" err="1">
                <a:ln>
                  <a:noFill/>
                </a:ln>
                <a:solidFill>
                  <a:schemeClr val="tx1"/>
                </a:solidFill>
                <a:effectLst/>
                <a:latin typeface="Arial" panose="020B0604020202020204" pitchFamily="34" charset="0"/>
              </a:rPr>
              <a:t>download_yahoo</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Open-Source Licenses: Complies with Apache 2.0 for </a:t>
            </a:r>
            <a:r>
              <a:rPr kumimoji="0" lang="en-US" altLang="en-US" sz="1800" b="0" i="0" u="none" strike="noStrike" cap="none" normalizeH="0" baseline="0" dirty="0" err="1">
                <a:ln>
                  <a:noFill/>
                </a:ln>
                <a:solidFill>
                  <a:schemeClr val="tx1"/>
                </a:solidFill>
                <a:effectLst/>
                <a:latin typeface="Arial" panose="020B0604020202020204" pitchFamily="34" charset="0"/>
              </a:rPr>
              <a:t>Streamlit</a:t>
            </a:r>
            <a:r>
              <a:rPr kumimoji="0" lang="en-US" altLang="en-US" sz="1800" b="0" i="0" u="none" strike="noStrike" cap="none" normalizeH="0" baseline="0" dirty="0">
                <a:ln>
                  <a:noFill/>
                </a:ln>
                <a:solidFill>
                  <a:schemeClr val="tx1"/>
                </a:solidFill>
                <a:effectLst/>
                <a:latin typeface="Arial" panose="020B0604020202020204" pitchFamily="34" charset="0"/>
              </a:rPr>
              <a:t>, Pandas, TensorFlow.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Future Consideration</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For live trading, full SEC compliance and audit trails recommended.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66245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859D687-3655-56C9-B969-22C2F8918643}"/>
              </a:ext>
            </a:extLst>
          </p:cNvPr>
          <p:cNvSpPr txBox="1"/>
          <p:nvPr/>
        </p:nvSpPr>
        <p:spPr>
          <a:xfrm>
            <a:off x="865239" y="867386"/>
            <a:ext cx="6096000" cy="369332"/>
          </a:xfrm>
          <a:prstGeom prst="rect">
            <a:avLst/>
          </a:prstGeom>
          <a:noFill/>
        </p:spPr>
        <p:txBody>
          <a:bodyPr wrap="square">
            <a:spAutoFit/>
          </a:bodyPr>
          <a:lstStyle/>
          <a:p>
            <a:r>
              <a:rPr lang="en-IN" sz="1800" b="1" i="0" u="none" strike="noStrike" dirty="0">
                <a:solidFill>
                  <a:srgbClr val="000000"/>
                </a:solidFill>
                <a:effectLst/>
                <a:latin typeface="Times New Roman" panose="02020603050405020304" pitchFamily="18" charset="0"/>
              </a:rPr>
              <a:t>IMPLEMENTATION</a:t>
            </a:r>
            <a:r>
              <a:rPr lang="en-IN" sz="1800" b="0" i="0" dirty="0">
                <a:solidFill>
                  <a:srgbClr val="000000"/>
                </a:solidFill>
                <a:effectLst/>
                <a:latin typeface="Times New Roman" panose="02020603050405020304" pitchFamily="18" charset="0"/>
              </a:rPr>
              <a:t>​</a:t>
            </a:r>
            <a:endParaRPr lang="en-IN" dirty="0"/>
          </a:p>
        </p:txBody>
      </p:sp>
      <p:sp>
        <p:nvSpPr>
          <p:cNvPr id="6" name="TextBox 5">
            <a:extLst>
              <a:ext uri="{FF2B5EF4-FFF2-40B4-BE49-F238E27FC236}">
                <a16:creationId xmlns:a16="http://schemas.microsoft.com/office/drawing/2014/main" id="{897DEC6E-A288-BE1A-39C2-FA82D71B29CB}"/>
              </a:ext>
            </a:extLst>
          </p:cNvPr>
          <p:cNvSpPr txBox="1"/>
          <p:nvPr/>
        </p:nvSpPr>
        <p:spPr>
          <a:xfrm>
            <a:off x="766916" y="2188806"/>
            <a:ext cx="6096000" cy="1200329"/>
          </a:xfrm>
          <a:prstGeom prst="rect">
            <a:avLst/>
          </a:prstGeom>
          <a:noFill/>
        </p:spPr>
        <p:txBody>
          <a:bodyPr wrap="square">
            <a:spAutoFit/>
          </a:bodyPr>
          <a:lstStyle/>
          <a:p>
            <a:pPr fontAlgn="base">
              <a:buFont typeface="Arial" panose="020B0604020202020204" pitchFamily="34" charset="0"/>
              <a:buChar char="•"/>
            </a:pPr>
            <a:r>
              <a:rPr lang="en-IN" dirty="0"/>
              <a:t>Relationship </a:t>
            </a:r>
            <a:r>
              <a:rPr lang="en-IN" sz="1800" b="0" i="0" u="none" strike="noStrike" dirty="0">
                <a:solidFill>
                  <a:srgbClr val="000000"/>
                </a:solidFill>
                <a:effectLst/>
                <a:latin typeface="Times New Roman" panose="02020603050405020304" pitchFamily="18" charset="0"/>
              </a:rPr>
              <a:t>Diagram</a:t>
            </a:r>
            <a:r>
              <a:rPr lang="en-US" sz="1800" b="0" i="0" dirty="0">
                <a:solidFill>
                  <a:srgbClr val="000000"/>
                </a:solidFill>
                <a:effectLst/>
                <a:latin typeface="Times New Roman" panose="02020603050405020304" pitchFamily="18" charset="0"/>
              </a:rPr>
              <a:t>​</a:t>
            </a:r>
            <a:endParaRPr lang="en-US" b="0" i="0" dirty="0">
              <a:solidFill>
                <a:srgbClr val="000000"/>
              </a:solidFill>
              <a:effectLst/>
              <a:latin typeface="Arial" panose="020B0604020202020204" pitchFamily="34" charset="0"/>
            </a:endParaRPr>
          </a:p>
          <a:p>
            <a:pPr algn="l" rtl="0" fontAlgn="base">
              <a:buNone/>
            </a:pPr>
            <a:r>
              <a:rPr lang="en-US" sz="1800" b="0" i="0" dirty="0">
                <a:solidFill>
                  <a:srgbClr val="000000"/>
                </a:solidFill>
                <a:effectLst/>
                <a:latin typeface="Times New Roman" panose="02020603050405020304" pitchFamily="18" charset="0"/>
              </a:rPr>
              <a:t>​</a:t>
            </a:r>
            <a:endParaRPr lang="en-US" b="0" i="0" dirty="0">
              <a:solidFill>
                <a:srgbClr val="000000"/>
              </a:solidFill>
              <a:effectLst/>
              <a:latin typeface="Segoe UI" panose="020B0502040204020203" pitchFamily="34" charset="0"/>
            </a:endParaRPr>
          </a:p>
          <a:p>
            <a:pPr algn="l" rtl="0" fontAlgn="base">
              <a:buFont typeface="Arial" panose="020B0604020202020204" pitchFamily="34" charset="0"/>
              <a:buChar char="•"/>
            </a:pPr>
            <a:r>
              <a:rPr lang="en-IN" sz="1800" b="0" i="0" u="none" strike="noStrike" dirty="0">
                <a:solidFill>
                  <a:srgbClr val="000000"/>
                </a:solidFill>
                <a:effectLst/>
                <a:latin typeface="Times New Roman" panose="02020603050405020304" pitchFamily="18" charset="0"/>
              </a:rPr>
              <a:t>Class Diagram</a:t>
            </a:r>
            <a:r>
              <a:rPr lang="en-US" sz="1800" b="0" i="0" dirty="0">
                <a:solidFill>
                  <a:srgbClr val="000000"/>
                </a:solidFill>
                <a:effectLst/>
                <a:latin typeface="Times New Roman" panose="02020603050405020304" pitchFamily="18" charset="0"/>
              </a:rPr>
              <a:t>​</a:t>
            </a:r>
            <a:endParaRPr lang="en-US" b="0" i="0" dirty="0">
              <a:solidFill>
                <a:srgbClr val="000000"/>
              </a:solidFill>
              <a:effectLst/>
              <a:latin typeface="Arial" panose="020B0604020202020204" pitchFamily="34" charset="0"/>
            </a:endParaRPr>
          </a:p>
          <a:p>
            <a:pPr algn="l" rtl="0" fontAlgn="base">
              <a:buNone/>
            </a:pPr>
            <a:r>
              <a:rPr lang="en-US" sz="1800" b="0" i="0" dirty="0">
                <a:solidFill>
                  <a:srgbClr val="000000"/>
                </a:solidFill>
                <a:effectLst/>
                <a:latin typeface="Times New Roman" panose="02020603050405020304" pitchFamily="18" charset="0"/>
              </a:rPr>
              <a:t>​​</a:t>
            </a:r>
            <a:endParaRPr lang="en-US" b="0" i="0" dirty="0">
              <a:solidFill>
                <a:srgbClr val="000000"/>
              </a:solidFill>
              <a:effectLst/>
              <a:latin typeface="Segoe UI" panose="020B0502040204020203" pitchFamily="34" charset="0"/>
            </a:endParaRPr>
          </a:p>
        </p:txBody>
      </p:sp>
      <p:pic>
        <p:nvPicPr>
          <p:cNvPr id="9219" name="Picture 3" descr="Applicant Tracking Systems - how to make sure a human reads your resume -  SEEK">
            <a:extLst>
              <a:ext uri="{FF2B5EF4-FFF2-40B4-BE49-F238E27FC236}">
                <a16:creationId xmlns:a16="http://schemas.microsoft.com/office/drawing/2014/main" id="{D9B0F1A7-DFDB-1F29-1841-F085BBDEA8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02658" y="3204856"/>
            <a:ext cx="6660459" cy="3372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7529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594360"/>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45720"/>
            <a:ext cx="11795760" cy="502920"/>
          </a:xfrm>
          <a:prstGeom prst="rect">
            <a:avLst/>
          </a:prstGeom>
          <a:noFill/>
        </p:spPr>
        <p:txBody>
          <a:bodyPr wrap="square">
            <a:spAutoFit/>
          </a:bodyPr>
          <a:lstStyle/>
          <a:p>
            <a:pPr algn="ctr"/>
            <a:r>
              <a:rPr sz="2400" b="1" i="0">
                <a:solidFill>
                  <a:srgbClr val="0D1B2A"/>
                </a:solidFill>
              </a:rPr>
              <a:t>System Architecture — AlgoTrade AI Pipeline</a:t>
            </a:r>
          </a:p>
        </p:txBody>
      </p:sp>
      <p:sp>
        <p:nvSpPr>
          <p:cNvPr id="4" name="Rectangle 3"/>
          <p:cNvSpPr/>
          <p:nvPr/>
        </p:nvSpPr>
        <p:spPr>
          <a:xfrm>
            <a:off x="160020" y="1088136"/>
            <a:ext cx="1691640" cy="658368"/>
          </a:xfrm>
          <a:prstGeom prst="rect">
            <a:avLst/>
          </a:prstGeom>
          <a:solidFill>
            <a:srgbClr val="10283C"/>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60020" y="1088136"/>
            <a:ext cx="1691640"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0020" y="1124712"/>
            <a:ext cx="1691640" cy="292608"/>
          </a:xfrm>
          <a:prstGeom prst="rect">
            <a:avLst/>
          </a:prstGeom>
          <a:noFill/>
        </p:spPr>
        <p:txBody>
          <a:bodyPr wrap="square">
            <a:spAutoFit/>
          </a:bodyPr>
          <a:lstStyle/>
          <a:p>
            <a:pPr algn="ctr"/>
            <a:r>
              <a:rPr sz="1050" b="1" i="0">
                <a:solidFill>
                  <a:srgbClr val="00B4D8"/>
                </a:solidFill>
              </a:rPr>
              <a:t>Yahoo Finance</a:t>
            </a:r>
          </a:p>
        </p:txBody>
      </p:sp>
      <p:sp>
        <p:nvSpPr>
          <p:cNvPr id="7" name="TextBox 6"/>
          <p:cNvSpPr txBox="1"/>
          <p:nvPr/>
        </p:nvSpPr>
        <p:spPr>
          <a:xfrm>
            <a:off x="160020" y="1408176"/>
            <a:ext cx="1691640" cy="274320"/>
          </a:xfrm>
          <a:prstGeom prst="rect">
            <a:avLst/>
          </a:prstGeom>
          <a:noFill/>
        </p:spPr>
        <p:txBody>
          <a:bodyPr wrap="square">
            <a:spAutoFit/>
          </a:bodyPr>
          <a:lstStyle/>
          <a:p>
            <a:pPr algn="ctr"/>
            <a:r>
              <a:rPr sz="900" b="0" i="0">
                <a:solidFill>
                  <a:srgbClr val="CCCCCC"/>
                </a:solidFill>
              </a:rPr>
              <a:t>Live OHLCV Data</a:t>
            </a:r>
          </a:p>
        </p:txBody>
      </p:sp>
      <p:sp>
        <p:nvSpPr>
          <p:cNvPr id="8" name="Rectangle 7"/>
          <p:cNvSpPr/>
          <p:nvPr/>
        </p:nvSpPr>
        <p:spPr>
          <a:xfrm>
            <a:off x="1988819" y="1088136"/>
            <a:ext cx="1691640" cy="658368"/>
          </a:xfrm>
          <a:prstGeom prst="rect">
            <a:avLst/>
          </a:prstGeom>
          <a:solidFill>
            <a:srgbClr val="10283C"/>
          </a:solidFill>
          <a:ln w="19050">
            <a:solidFill>
              <a:srgbClr val="0096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988819" y="1088136"/>
            <a:ext cx="1691640" cy="45720"/>
          </a:xfrm>
          <a:prstGeom prst="rect">
            <a:avLst/>
          </a:prstGeom>
          <a:solidFill>
            <a:srgbClr val="0096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988819" y="1124712"/>
            <a:ext cx="1691640" cy="292608"/>
          </a:xfrm>
          <a:prstGeom prst="rect">
            <a:avLst/>
          </a:prstGeom>
          <a:noFill/>
        </p:spPr>
        <p:txBody>
          <a:bodyPr wrap="square">
            <a:spAutoFit/>
          </a:bodyPr>
          <a:lstStyle/>
          <a:p>
            <a:pPr algn="ctr"/>
            <a:r>
              <a:rPr sz="1050" b="1" i="0">
                <a:solidFill>
                  <a:srgbClr val="0096C7"/>
                </a:solidFill>
              </a:rPr>
              <a:t>Data</a:t>
            </a:r>
          </a:p>
        </p:txBody>
      </p:sp>
      <p:sp>
        <p:nvSpPr>
          <p:cNvPr id="11" name="TextBox 10"/>
          <p:cNvSpPr txBox="1"/>
          <p:nvPr/>
        </p:nvSpPr>
        <p:spPr>
          <a:xfrm>
            <a:off x="1988819" y="1408176"/>
            <a:ext cx="1691640" cy="274320"/>
          </a:xfrm>
          <a:prstGeom prst="rect">
            <a:avLst/>
          </a:prstGeom>
          <a:noFill/>
        </p:spPr>
        <p:txBody>
          <a:bodyPr wrap="square">
            <a:spAutoFit/>
          </a:bodyPr>
          <a:lstStyle/>
          <a:p>
            <a:pPr algn="ctr"/>
            <a:r>
              <a:rPr sz="900" b="0" i="0">
                <a:solidFill>
                  <a:srgbClr val="CCCCCC"/>
                </a:solidFill>
              </a:rPr>
              <a:t>Ingestion &amp; Clean</a:t>
            </a:r>
          </a:p>
        </p:txBody>
      </p:sp>
      <p:sp>
        <p:nvSpPr>
          <p:cNvPr id="12" name="Rectangle 11"/>
          <p:cNvSpPr/>
          <p:nvPr/>
        </p:nvSpPr>
        <p:spPr>
          <a:xfrm>
            <a:off x="3817620" y="1088136"/>
            <a:ext cx="1691640" cy="658368"/>
          </a:xfrm>
          <a:prstGeom prst="rect">
            <a:avLst/>
          </a:prstGeom>
          <a:solidFill>
            <a:srgbClr val="10283C"/>
          </a:solidFill>
          <a:ln w="19050">
            <a:solidFill>
              <a:srgbClr val="0077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817620" y="1088136"/>
            <a:ext cx="1691640" cy="45720"/>
          </a:xfrm>
          <a:prstGeom prst="rect">
            <a:avLst/>
          </a:prstGeom>
          <a:solidFill>
            <a:srgbClr val="007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17620" y="1124712"/>
            <a:ext cx="1691640" cy="292608"/>
          </a:xfrm>
          <a:prstGeom prst="rect">
            <a:avLst/>
          </a:prstGeom>
          <a:noFill/>
        </p:spPr>
        <p:txBody>
          <a:bodyPr wrap="square">
            <a:spAutoFit/>
          </a:bodyPr>
          <a:lstStyle/>
          <a:p>
            <a:pPr algn="ctr"/>
            <a:r>
              <a:rPr sz="1050" b="1" i="0">
                <a:solidFill>
                  <a:srgbClr val="0077B6"/>
                </a:solidFill>
              </a:rPr>
              <a:t>11 Technical</a:t>
            </a:r>
          </a:p>
        </p:txBody>
      </p:sp>
      <p:sp>
        <p:nvSpPr>
          <p:cNvPr id="15" name="TextBox 14"/>
          <p:cNvSpPr txBox="1"/>
          <p:nvPr/>
        </p:nvSpPr>
        <p:spPr>
          <a:xfrm>
            <a:off x="3817620" y="1408176"/>
            <a:ext cx="1691640" cy="274320"/>
          </a:xfrm>
          <a:prstGeom prst="rect">
            <a:avLst/>
          </a:prstGeom>
          <a:noFill/>
        </p:spPr>
        <p:txBody>
          <a:bodyPr wrap="square">
            <a:spAutoFit/>
          </a:bodyPr>
          <a:lstStyle/>
          <a:p>
            <a:pPr algn="ctr"/>
            <a:r>
              <a:rPr sz="900" b="0" i="0">
                <a:solidFill>
                  <a:srgbClr val="CCCCCC"/>
                </a:solidFill>
              </a:rPr>
              <a:t>Indicators</a:t>
            </a:r>
          </a:p>
        </p:txBody>
      </p:sp>
      <p:sp>
        <p:nvSpPr>
          <p:cNvPr id="16" name="Rectangle 15"/>
          <p:cNvSpPr/>
          <p:nvPr/>
        </p:nvSpPr>
        <p:spPr>
          <a:xfrm>
            <a:off x="5646420" y="1088136"/>
            <a:ext cx="1691640" cy="658368"/>
          </a:xfrm>
          <a:prstGeom prst="rect">
            <a:avLst/>
          </a:prstGeom>
          <a:solidFill>
            <a:srgbClr val="10283C"/>
          </a:solidFill>
          <a:ln w="19050">
            <a:solidFill>
              <a:srgbClr val="023E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646420" y="1088136"/>
            <a:ext cx="1691640" cy="45720"/>
          </a:xfrm>
          <a:prstGeom prst="rect">
            <a:avLst/>
          </a:prstGeom>
          <a:solidFill>
            <a:srgbClr val="023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46420" y="1124712"/>
            <a:ext cx="1691640" cy="292608"/>
          </a:xfrm>
          <a:prstGeom prst="rect">
            <a:avLst/>
          </a:prstGeom>
          <a:noFill/>
        </p:spPr>
        <p:txBody>
          <a:bodyPr wrap="square">
            <a:spAutoFit/>
          </a:bodyPr>
          <a:lstStyle/>
          <a:p>
            <a:pPr algn="ctr"/>
            <a:r>
              <a:rPr sz="1050" b="1" i="0">
                <a:solidFill>
                  <a:srgbClr val="023E8A"/>
                </a:solidFill>
              </a:rPr>
              <a:t>Supervised</a:t>
            </a:r>
          </a:p>
        </p:txBody>
      </p:sp>
      <p:sp>
        <p:nvSpPr>
          <p:cNvPr id="19" name="TextBox 18"/>
          <p:cNvSpPr txBox="1"/>
          <p:nvPr/>
        </p:nvSpPr>
        <p:spPr>
          <a:xfrm>
            <a:off x="5646420" y="1408176"/>
            <a:ext cx="1691640" cy="274320"/>
          </a:xfrm>
          <a:prstGeom prst="rect">
            <a:avLst/>
          </a:prstGeom>
          <a:noFill/>
        </p:spPr>
        <p:txBody>
          <a:bodyPr wrap="square">
            <a:spAutoFit/>
          </a:bodyPr>
          <a:lstStyle/>
          <a:p>
            <a:pPr algn="ctr"/>
            <a:r>
              <a:rPr sz="900" b="0" i="0">
                <a:solidFill>
                  <a:srgbClr val="CCCCCC"/>
                </a:solidFill>
              </a:rPr>
              <a:t>Dataset (returns)</a:t>
            </a:r>
          </a:p>
        </p:txBody>
      </p:sp>
      <p:sp>
        <p:nvSpPr>
          <p:cNvPr id="20" name="Rectangle 19"/>
          <p:cNvSpPr/>
          <p:nvPr/>
        </p:nvSpPr>
        <p:spPr>
          <a:xfrm>
            <a:off x="7658100" y="1088136"/>
            <a:ext cx="1691640" cy="658368"/>
          </a:xfrm>
          <a:prstGeom prst="rect">
            <a:avLst/>
          </a:prstGeom>
          <a:solidFill>
            <a:srgbClr val="10283C"/>
          </a:solidFill>
          <a:ln w="19050">
            <a:solidFill>
              <a:srgbClr val="030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658100" y="1088136"/>
            <a:ext cx="1691640" cy="45720"/>
          </a:xfrm>
          <a:prstGeom prst="rect">
            <a:avLst/>
          </a:prstGeom>
          <a:solidFill>
            <a:srgbClr val="030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58100" y="1124712"/>
            <a:ext cx="1691640" cy="292608"/>
          </a:xfrm>
          <a:prstGeom prst="rect">
            <a:avLst/>
          </a:prstGeom>
          <a:noFill/>
        </p:spPr>
        <p:txBody>
          <a:bodyPr wrap="square">
            <a:spAutoFit/>
          </a:bodyPr>
          <a:lstStyle/>
          <a:p>
            <a:pPr algn="ctr"/>
            <a:r>
              <a:rPr sz="1050" b="1" i="0">
                <a:solidFill>
                  <a:srgbClr val="03045E"/>
                </a:solidFill>
              </a:rPr>
              <a:t>MinMax</a:t>
            </a:r>
          </a:p>
        </p:txBody>
      </p:sp>
      <p:sp>
        <p:nvSpPr>
          <p:cNvPr id="23" name="TextBox 22"/>
          <p:cNvSpPr txBox="1"/>
          <p:nvPr/>
        </p:nvSpPr>
        <p:spPr>
          <a:xfrm>
            <a:off x="7658100" y="1408176"/>
            <a:ext cx="1691640" cy="274320"/>
          </a:xfrm>
          <a:prstGeom prst="rect">
            <a:avLst/>
          </a:prstGeom>
          <a:noFill/>
        </p:spPr>
        <p:txBody>
          <a:bodyPr wrap="square">
            <a:spAutoFit/>
          </a:bodyPr>
          <a:lstStyle/>
          <a:p>
            <a:pPr algn="ctr"/>
            <a:r>
              <a:rPr sz="900" b="0" i="0">
                <a:solidFill>
                  <a:srgbClr val="CCCCCC"/>
                </a:solidFill>
              </a:rPr>
              <a:t>Normalisation</a:t>
            </a:r>
          </a:p>
        </p:txBody>
      </p:sp>
      <p:sp>
        <p:nvSpPr>
          <p:cNvPr id="24" name="Rectangle 23"/>
          <p:cNvSpPr/>
          <p:nvPr/>
        </p:nvSpPr>
        <p:spPr>
          <a:xfrm>
            <a:off x="3817620" y="2688336"/>
            <a:ext cx="1691640" cy="658368"/>
          </a:xfrm>
          <a:prstGeom prst="rect">
            <a:avLst/>
          </a:prstGeom>
          <a:solidFill>
            <a:srgbClr val="10283C"/>
          </a:solidFill>
          <a:ln w="19050">
            <a:solidFill>
              <a:srgbClr val="1B4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817620" y="2688336"/>
            <a:ext cx="1691640" cy="45720"/>
          </a:xfrm>
          <a:prstGeom prst="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817620" y="2724912"/>
            <a:ext cx="1691640" cy="292608"/>
          </a:xfrm>
          <a:prstGeom prst="rect">
            <a:avLst/>
          </a:prstGeom>
          <a:noFill/>
        </p:spPr>
        <p:txBody>
          <a:bodyPr wrap="square">
            <a:spAutoFit/>
          </a:bodyPr>
          <a:lstStyle/>
          <a:p>
            <a:pPr algn="ctr"/>
            <a:r>
              <a:rPr sz="1050" b="1" i="0">
                <a:solidFill>
                  <a:srgbClr val="1B4332"/>
                </a:solidFill>
              </a:rPr>
              <a:t>Train/Val/Test</a:t>
            </a:r>
          </a:p>
        </p:txBody>
      </p:sp>
      <p:sp>
        <p:nvSpPr>
          <p:cNvPr id="27" name="TextBox 26"/>
          <p:cNvSpPr txBox="1"/>
          <p:nvPr/>
        </p:nvSpPr>
        <p:spPr>
          <a:xfrm>
            <a:off x="3817620" y="3008376"/>
            <a:ext cx="1691640" cy="274320"/>
          </a:xfrm>
          <a:prstGeom prst="rect">
            <a:avLst/>
          </a:prstGeom>
          <a:noFill/>
        </p:spPr>
        <p:txBody>
          <a:bodyPr wrap="square">
            <a:spAutoFit/>
          </a:bodyPr>
          <a:lstStyle/>
          <a:p>
            <a:pPr algn="ctr"/>
            <a:r>
              <a:rPr sz="900" b="0" i="0">
                <a:solidFill>
                  <a:srgbClr val="CCCCCC"/>
                </a:solidFill>
              </a:rPr>
              <a:t>72% / 8% / 20%</a:t>
            </a:r>
          </a:p>
        </p:txBody>
      </p:sp>
      <p:sp>
        <p:nvSpPr>
          <p:cNvPr id="28" name="Rectangle 27"/>
          <p:cNvSpPr/>
          <p:nvPr/>
        </p:nvSpPr>
        <p:spPr>
          <a:xfrm>
            <a:off x="982980" y="4151376"/>
            <a:ext cx="1691640" cy="658368"/>
          </a:xfrm>
          <a:prstGeom prst="rect">
            <a:avLst/>
          </a:prstGeom>
          <a:solidFill>
            <a:srgbClr val="10283C"/>
          </a:solidFill>
          <a:ln w="19050">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82980" y="4151376"/>
            <a:ext cx="1691640" cy="45720"/>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2980" y="4187952"/>
            <a:ext cx="1691640" cy="292608"/>
          </a:xfrm>
          <a:prstGeom prst="rect">
            <a:avLst/>
          </a:prstGeom>
          <a:noFill/>
        </p:spPr>
        <p:txBody>
          <a:bodyPr wrap="square">
            <a:spAutoFit/>
          </a:bodyPr>
          <a:lstStyle/>
          <a:p>
            <a:pPr algn="ctr"/>
            <a:r>
              <a:rPr sz="1050" b="1" i="0">
                <a:solidFill>
                  <a:srgbClr val="00E676"/>
                </a:solidFill>
              </a:rPr>
              <a:t>XGBoost</a:t>
            </a:r>
          </a:p>
        </p:txBody>
      </p:sp>
      <p:sp>
        <p:nvSpPr>
          <p:cNvPr id="31" name="TextBox 30"/>
          <p:cNvSpPr txBox="1"/>
          <p:nvPr/>
        </p:nvSpPr>
        <p:spPr>
          <a:xfrm>
            <a:off x="982980" y="4471416"/>
            <a:ext cx="1691640" cy="274320"/>
          </a:xfrm>
          <a:prstGeom prst="rect">
            <a:avLst/>
          </a:prstGeom>
          <a:noFill/>
        </p:spPr>
        <p:txBody>
          <a:bodyPr wrap="square">
            <a:spAutoFit/>
          </a:bodyPr>
          <a:lstStyle/>
          <a:p>
            <a:pPr algn="ctr"/>
            <a:r>
              <a:rPr sz="900" b="0" i="0">
                <a:solidFill>
                  <a:srgbClr val="CCCCCC"/>
                </a:solidFill>
              </a:rPr>
              <a:t>n_est=200, depth=6</a:t>
            </a:r>
          </a:p>
        </p:txBody>
      </p:sp>
      <p:sp>
        <p:nvSpPr>
          <p:cNvPr id="32" name="Rectangle 31"/>
          <p:cNvSpPr/>
          <p:nvPr/>
        </p:nvSpPr>
        <p:spPr>
          <a:xfrm>
            <a:off x="3817620" y="4151376"/>
            <a:ext cx="1691640" cy="658368"/>
          </a:xfrm>
          <a:prstGeom prst="rect">
            <a:avLst/>
          </a:prstGeom>
          <a:solidFill>
            <a:srgbClr val="10283C"/>
          </a:solidFill>
          <a:ln w="19050">
            <a:solidFill>
              <a:srgbClr val="00C8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817620" y="4151376"/>
            <a:ext cx="1691640" cy="45720"/>
          </a:xfrm>
          <a:prstGeom prst="rect">
            <a:avLst/>
          </a:prstGeom>
          <a:solidFill>
            <a:srgbClr val="00C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817620" y="4187952"/>
            <a:ext cx="1691640" cy="292608"/>
          </a:xfrm>
          <a:prstGeom prst="rect">
            <a:avLst/>
          </a:prstGeom>
          <a:noFill/>
        </p:spPr>
        <p:txBody>
          <a:bodyPr wrap="square">
            <a:spAutoFit/>
          </a:bodyPr>
          <a:lstStyle/>
          <a:p>
            <a:pPr algn="ctr"/>
            <a:r>
              <a:rPr sz="1050" b="1" i="0">
                <a:solidFill>
                  <a:srgbClr val="00C85A"/>
                </a:solidFill>
              </a:rPr>
              <a:t>Random</a:t>
            </a:r>
          </a:p>
        </p:txBody>
      </p:sp>
      <p:sp>
        <p:nvSpPr>
          <p:cNvPr id="35" name="TextBox 34"/>
          <p:cNvSpPr txBox="1"/>
          <p:nvPr/>
        </p:nvSpPr>
        <p:spPr>
          <a:xfrm>
            <a:off x="3817620" y="4471416"/>
            <a:ext cx="1691640" cy="274320"/>
          </a:xfrm>
          <a:prstGeom prst="rect">
            <a:avLst/>
          </a:prstGeom>
          <a:noFill/>
        </p:spPr>
        <p:txBody>
          <a:bodyPr wrap="square">
            <a:spAutoFit/>
          </a:bodyPr>
          <a:lstStyle/>
          <a:p>
            <a:pPr algn="ctr"/>
            <a:r>
              <a:rPr sz="900" b="0" i="0">
                <a:solidFill>
                  <a:srgbClr val="CCCCCC"/>
                </a:solidFill>
              </a:rPr>
              <a:t>Forest</a:t>
            </a:r>
          </a:p>
        </p:txBody>
      </p:sp>
      <p:sp>
        <p:nvSpPr>
          <p:cNvPr id="36" name="Rectangle 35"/>
          <p:cNvSpPr/>
          <p:nvPr/>
        </p:nvSpPr>
        <p:spPr>
          <a:xfrm>
            <a:off x="6652259" y="4151376"/>
            <a:ext cx="1691640" cy="658368"/>
          </a:xfrm>
          <a:prstGeom prst="rect">
            <a:avLst/>
          </a:prstGeom>
          <a:solidFill>
            <a:srgbClr val="10283C"/>
          </a:solidFill>
          <a:ln w="19050">
            <a:solidFill>
              <a:srgbClr val="00A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652259" y="4151376"/>
            <a:ext cx="1691640" cy="45720"/>
          </a:xfrm>
          <a:prstGeom prst="rect">
            <a:avLst/>
          </a:prstGeom>
          <a:solidFill>
            <a:srgbClr val="00A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652259" y="4187952"/>
            <a:ext cx="1691640" cy="292608"/>
          </a:xfrm>
          <a:prstGeom prst="rect">
            <a:avLst/>
          </a:prstGeom>
          <a:noFill/>
        </p:spPr>
        <p:txBody>
          <a:bodyPr wrap="square">
            <a:spAutoFit/>
          </a:bodyPr>
          <a:lstStyle/>
          <a:p>
            <a:pPr algn="ctr"/>
            <a:r>
              <a:rPr sz="1050" b="1" i="0">
                <a:solidFill>
                  <a:srgbClr val="00AA44"/>
                </a:solidFill>
              </a:rPr>
              <a:t>LSTM</a:t>
            </a:r>
          </a:p>
        </p:txBody>
      </p:sp>
      <p:sp>
        <p:nvSpPr>
          <p:cNvPr id="39" name="TextBox 38"/>
          <p:cNvSpPr txBox="1"/>
          <p:nvPr/>
        </p:nvSpPr>
        <p:spPr>
          <a:xfrm>
            <a:off x="6652259" y="4471416"/>
            <a:ext cx="1691640" cy="274320"/>
          </a:xfrm>
          <a:prstGeom prst="rect">
            <a:avLst/>
          </a:prstGeom>
          <a:noFill/>
        </p:spPr>
        <p:txBody>
          <a:bodyPr wrap="square">
            <a:spAutoFit/>
          </a:bodyPr>
          <a:lstStyle/>
          <a:p>
            <a:pPr algn="ctr"/>
            <a:r>
              <a:rPr sz="900" b="0" i="0">
                <a:solidFill>
                  <a:srgbClr val="CCCCCC"/>
                </a:solidFill>
              </a:rPr>
              <a:t>window=10, units=64</a:t>
            </a:r>
          </a:p>
        </p:txBody>
      </p:sp>
      <p:sp>
        <p:nvSpPr>
          <p:cNvPr id="40" name="Rectangle 39"/>
          <p:cNvSpPr/>
          <p:nvPr/>
        </p:nvSpPr>
        <p:spPr>
          <a:xfrm>
            <a:off x="3817620" y="5340096"/>
            <a:ext cx="1691640" cy="658368"/>
          </a:xfrm>
          <a:prstGeom prst="rect">
            <a:avLst/>
          </a:prstGeom>
          <a:solidFill>
            <a:srgbClr val="10283C"/>
          </a:solidFill>
          <a:ln w="19050">
            <a:solidFill>
              <a:srgbClr val="FF6D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3817620" y="5340096"/>
            <a:ext cx="1691640" cy="45720"/>
          </a:xfrm>
          <a:prstGeom prst="rect">
            <a:avLst/>
          </a:prstGeom>
          <a:solidFill>
            <a:srgbClr val="FF6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817620" y="5376672"/>
            <a:ext cx="1691640" cy="292608"/>
          </a:xfrm>
          <a:prstGeom prst="rect">
            <a:avLst/>
          </a:prstGeom>
          <a:noFill/>
        </p:spPr>
        <p:txBody>
          <a:bodyPr wrap="square">
            <a:spAutoFit/>
          </a:bodyPr>
          <a:lstStyle/>
          <a:p>
            <a:pPr algn="ctr"/>
            <a:r>
              <a:rPr sz="1050" b="1" i="0">
                <a:solidFill>
                  <a:srgbClr val="FF6D00"/>
                </a:solidFill>
              </a:rPr>
              <a:t>Signal</a:t>
            </a:r>
          </a:p>
        </p:txBody>
      </p:sp>
      <p:sp>
        <p:nvSpPr>
          <p:cNvPr id="43" name="TextBox 42"/>
          <p:cNvSpPr txBox="1"/>
          <p:nvPr/>
        </p:nvSpPr>
        <p:spPr>
          <a:xfrm>
            <a:off x="3817620" y="5660136"/>
            <a:ext cx="1691640" cy="274320"/>
          </a:xfrm>
          <a:prstGeom prst="rect">
            <a:avLst/>
          </a:prstGeom>
          <a:noFill/>
        </p:spPr>
        <p:txBody>
          <a:bodyPr wrap="square">
            <a:spAutoFit/>
          </a:bodyPr>
          <a:lstStyle/>
          <a:p>
            <a:pPr algn="ctr"/>
            <a:r>
              <a:rPr sz="900" b="0" i="0">
                <a:solidFill>
                  <a:srgbClr val="CCCCCC"/>
                </a:solidFill>
              </a:rPr>
              <a:t>BUY / SELL / HOLD</a:t>
            </a:r>
          </a:p>
        </p:txBody>
      </p:sp>
      <p:sp>
        <p:nvSpPr>
          <p:cNvPr id="44" name="Rectangle 43"/>
          <p:cNvSpPr/>
          <p:nvPr/>
        </p:nvSpPr>
        <p:spPr>
          <a:xfrm>
            <a:off x="3817620" y="6437376"/>
            <a:ext cx="1691640" cy="658368"/>
          </a:xfrm>
          <a:prstGeom prst="rect">
            <a:avLst/>
          </a:prstGeom>
          <a:solidFill>
            <a:srgbClr val="10283C"/>
          </a:solidFill>
          <a:ln w="19050">
            <a:solidFill>
              <a:srgbClr val="E639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817620" y="6437376"/>
            <a:ext cx="1691640" cy="45720"/>
          </a:xfrm>
          <a:prstGeom prst="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817620" y="6473952"/>
            <a:ext cx="1691640" cy="292608"/>
          </a:xfrm>
          <a:prstGeom prst="rect">
            <a:avLst/>
          </a:prstGeom>
          <a:noFill/>
        </p:spPr>
        <p:txBody>
          <a:bodyPr wrap="square">
            <a:spAutoFit/>
          </a:bodyPr>
          <a:lstStyle/>
          <a:p>
            <a:pPr algn="ctr"/>
            <a:r>
              <a:rPr sz="1050" b="1" i="0">
                <a:solidFill>
                  <a:srgbClr val="E63946"/>
                </a:solidFill>
              </a:rPr>
              <a:t>Backtest</a:t>
            </a:r>
          </a:p>
        </p:txBody>
      </p:sp>
      <p:sp>
        <p:nvSpPr>
          <p:cNvPr id="47" name="TextBox 46"/>
          <p:cNvSpPr txBox="1"/>
          <p:nvPr/>
        </p:nvSpPr>
        <p:spPr>
          <a:xfrm>
            <a:off x="3817620" y="6757416"/>
            <a:ext cx="1691640" cy="274320"/>
          </a:xfrm>
          <a:prstGeom prst="rect">
            <a:avLst/>
          </a:prstGeom>
          <a:noFill/>
        </p:spPr>
        <p:txBody>
          <a:bodyPr wrap="square">
            <a:spAutoFit/>
          </a:bodyPr>
          <a:lstStyle/>
          <a:p>
            <a:pPr algn="ctr"/>
            <a:r>
              <a:rPr sz="900" b="0" i="0">
                <a:solidFill>
                  <a:srgbClr val="CCCCCC"/>
                </a:solidFill>
              </a:rPr>
              <a:t>Sharpe · Drawdown · WR</a:t>
            </a:r>
          </a:p>
        </p:txBody>
      </p:sp>
      <p:sp>
        <p:nvSpPr>
          <p:cNvPr id="48" name="Rectangle 47"/>
          <p:cNvSpPr/>
          <p:nvPr/>
        </p:nvSpPr>
        <p:spPr>
          <a:xfrm>
            <a:off x="274320" y="7726679"/>
            <a:ext cx="11640312" cy="658368"/>
          </a:xfrm>
          <a:prstGeom prst="rect">
            <a:avLst/>
          </a:prstGeom>
          <a:solidFill>
            <a:srgbClr val="10283C"/>
          </a:solidFill>
          <a:ln w="19050">
            <a:solidFill>
              <a:srgbClr val="9B5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274320" y="7726679"/>
            <a:ext cx="11640312" cy="45720"/>
          </a:xfrm>
          <a:prstGeom prst="rect">
            <a:avLst/>
          </a:prstGeom>
          <a:solidFill>
            <a:srgbClr val="9B5D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74320" y="7763256"/>
            <a:ext cx="5486400" cy="292608"/>
          </a:xfrm>
          <a:prstGeom prst="rect">
            <a:avLst/>
          </a:prstGeom>
          <a:noFill/>
        </p:spPr>
        <p:txBody>
          <a:bodyPr wrap="square">
            <a:spAutoFit/>
          </a:bodyPr>
          <a:lstStyle/>
          <a:p>
            <a:pPr algn="ctr"/>
            <a:r>
              <a:rPr sz="1100" b="1" i="0">
                <a:solidFill>
                  <a:srgbClr val="9B5DE5"/>
                </a:solidFill>
              </a:rPr>
              <a:t>Streamlit Dashboard</a:t>
            </a:r>
          </a:p>
        </p:txBody>
      </p:sp>
      <p:sp>
        <p:nvSpPr>
          <p:cNvPr id="51" name="TextBox 50"/>
          <p:cNvSpPr txBox="1"/>
          <p:nvPr/>
        </p:nvSpPr>
        <p:spPr>
          <a:xfrm>
            <a:off x="274320" y="8065008"/>
            <a:ext cx="11640312" cy="274320"/>
          </a:xfrm>
          <a:prstGeom prst="rect">
            <a:avLst/>
          </a:prstGeom>
          <a:noFill/>
        </p:spPr>
        <p:txBody>
          <a:bodyPr wrap="square">
            <a:spAutoFit/>
          </a:bodyPr>
          <a:lstStyle/>
          <a:p>
            <a:pPr algn="ctr"/>
            <a:r>
              <a:rPr sz="900" b="0" i="0">
                <a:solidFill>
                  <a:srgbClr val="CCCCCC"/>
                </a:solidFill>
              </a:rPr>
              <a:t>Live Signal  ·  Model Metrics  ·  Feature Importance  ·  Radar Chart  ·  Cumulative Returns  ·  Investment Calculator</a:t>
            </a:r>
          </a:p>
        </p:txBody>
      </p:sp>
      <p:cxnSp>
        <p:nvCxnSpPr>
          <p:cNvPr id="52" name="Connector 51"/>
          <p:cNvCxnSpPr/>
          <p:nvPr/>
        </p:nvCxnSpPr>
        <p:spPr>
          <a:xfrm>
            <a:off x="1851660" y="1417320"/>
            <a:ext cx="137159" cy="0"/>
          </a:xfrm>
          <a:prstGeom prst="line">
            <a:avLst/>
          </a:prstGeom>
          <a:ln w="15240">
            <a:solidFill>
              <a:srgbClr val="00E676"/>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3680460" y="1417320"/>
            <a:ext cx="137160" cy="0"/>
          </a:xfrm>
          <a:prstGeom prst="line">
            <a:avLst/>
          </a:prstGeom>
          <a:ln w="15240">
            <a:solidFill>
              <a:srgbClr val="00E676"/>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5509259" y="1417320"/>
            <a:ext cx="137161" cy="0"/>
          </a:xfrm>
          <a:prstGeom prst="line">
            <a:avLst/>
          </a:prstGeom>
          <a:ln w="15240">
            <a:solidFill>
              <a:srgbClr val="00E676"/>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7338060" y="1417320"/>
            <a:ext cx="320040" cy="0"/>
          </a:xfrm>
          <a:prstGeom prst="line">
            <a:avLst/>
          </a:prstGeom>
          <a:ln w="15240">
            <a:solidFill>
              <a:srgbClr val="00E676"/>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a:off x="4663440" y="1746504"/>
            <a:ext cx="3840480" cy="941832"/>
          </a:xfrm>
          <a:prstGeom prst="line">
            <a:avLst/>
          </a:prstGeom>
          <a:ln w="15240">
            <a:solidFill>
              <a:srgbClr val="00E676"/>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a:off x="1828800" y="3346703"/>
            <a:ext cx="2834640" cy="804673"/>
          </a:xfrm>
          <a:prstGeom prst="line">
            <a:avLst/>
          </a:prstGeom>
          <a:ln w="15240">
            <a:solidFill>
              <a:srgbClr val="00E676"/>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4663440" y="3346703"/>
            <a:ext cx="0" cy="804673"/>
          </a:xfrm>
          <a:prstGeom prst="line">
            <a:avLst/>
          </a:prstGeom>
          <a:ln w="15240">
            <a:solidFill>
              <a:srgbClr val="00E676"/>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4663440" y="3346703"/>
            <a:ext cx="2834639" cy="804673"/>
          </a:xfrm>
          <a:prstGeom prst="line">
            <a:avLst/>
          </a:prstGeom>
          <a:ln w="15240">
            <a:solidFill>
              <a:srgbClr val="00E676"/>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1828800" y="4809744"/>
            <a:ext cx="2834640" cy="530352"/>
          </a:xfrm>
          <a:prstGeom prst="line">
            <a:avLst/>
          </a:prstGeom>
          <a:ln w="15240">
            <a:solidFill>
              <a:srgbClr val="00E676"/>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4663440" y="4809744"/>
            <a:ext cx="0" cy="530352"/>
          </a:xfrm>
          <a:prstGeom prst="line">
            <a:avLst/>
          </a:prstGeom>
          <a:ln w="15240">
            <a:solidFill>
              <a:srgbClr val="00E676"/>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a:off x="4663440" y="4809744"/>
            <a:ext cx="2834639" cy="530352"/>
          </a:xfrm>
          <a:prstGeom prst="line">
            <a:avLst/>
          </a:prstGeom>
          <a:ln w="15240">
            <a:solidFill>
              <a:srgbClr val="00E676"/>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4663440" y="5998464"/>
            <a:ext cx="0" cy="438912"/>
          </a:xfrm>
          <a:prstGeom prst="line">
            <a:avLst/>
          </a:prstGeom>
          <a:ln w="15240">
            <a:solidFill>
              <a:srgbClr val="00E676"/>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4663440" y="7095744"/>
            <a:ext cx="0" cy="630935"/>
          </a:xfrm>
          <a:prstGeom prst="line">
            <a:avLst/>
          </a:prstGeom>
          <a:ln w="15240">
            <a:solidFill>
              <a:srgbClr val="00E676"/>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130411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7A75BBE-978C-2858-41D7-6BE906229AD3}"/>
              </a:ext>
            </a:extLst>
          </p:cNvPr>
          <p:cNvPicPr>
            <a:picLocks noChangeAspect="1"/>
          </p:cNvPicPr>
          <p:nvPr/>
        </p:nvPicPr>
        <p:blipFill>
          <a:blip r:embed="rId2"/>
          <a:stretch>
            <a:fillRect/>
          </a:stretch>
        </p:blipFill>
        <p:spPr>
          <a:xfrm>
            <a:off x="1582337" y="1222334"/>
            <a:ext cx="8682541" cy="5365279"/>
          </a:xfrm>
          <a:prstGeom prst="rect">
            <a:avLst/>
          </a:prstGeom>
        </p:spPr>
      </p:pic>
      <p:sp>
        <p:nvSpPr>
          <p:cNvPr id="4" name="TextBox 3">
            <a:extLst>
              <a:ext uri="{FF2B5EF4-FFF2-40B4-BE49-F238E27FC236}">
                <a16:creationId xmlns:a16="http://schemas.microsoft.com/office/drawing/2014/main" id="{2C4A1619-078F-A2ED-B4A5-3E7B81EA0237}"/>
              </a:ext>
            </a:extLst>
          </p:cNvPr>
          <p:cNvSpPr txBox="1"/>
          <p:nvPr/>
        </p:nvSpPr>
        <p:spPr>
          <a:xfrm>
            <a:off x="521110" y="270387"/>
            <a:ext cx="6096000" cy="369332"/>
          </a:xfrm>
          <a:prstGeom prst="rect">
            <a:avLst/>
          </a:prstGeom>
          <a:noFill/>
        </p:spPr>
        <p:txBody>
          <a:bodyPr wrap="square">
            <a:spAutoFit/>
          </a:bodyPr>
          <a:lstStyle/>
          <a:p>
            <a:r>
              <a:rPr lang="en-IN" dirty="0"/>
              <a:t>UML Class Diagram​</a:t>
            </a:r>
          </a:p>
        </p:txBody>
      </p:sp>
    </p:spTree>
    <p:extLst>
      <p:ext uri="{BB962C8B-B14F-4D97-AF65-F5344CB8AC3E}">
        <p14:creationId xmlns:p14="http://schemas.microsoft.com/office/powerpoint/2010/main" val="26107249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55FA7AD-6FCA-8EF2-6A56-475F960A1422}"/>
              </a:ext>
            </a:extLst>
          </p:cNvPr>
          <p:cNvSpPr>
            <a:spLocks noChangeArrowheads="1"/>
          </p:cNvSpPr>
          <p:nvPr/>
        </p:nvSpPr>
        <p:spPr bwMode="auto">
          <a:xfrm>
            <a:off x="789039" y="977347"/>
            <a:ext cx="10685206"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Traditional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statistical and econometric models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(e.g., ARIMA, linear regression) have been widely used for crypto market prediction, but they struggle with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non-linear, dynamic, and noisy data</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Early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machine learning methods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like Decision Trees, Random Forest, and Gradient Boosting improved accuracy but often faced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overfitting and limited long-term forecasting ability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Ensemble techniques (Bagging, AdaBoost,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XGBoost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enhanced prediction stability by combining multiple weak learners; however, they still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lacked temporal awareness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failed to fully capture sequential dependencies in crypto prices.</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Artificial Neural Networks (ANNs)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introduced non-linear learning but couldn’t retain historical patterns or memory of previous states.</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Recurrent Neural Networks (RNNs)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Long Short-Term Memory (LSTM)</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networks emerged as superior alternatives capable of learning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time-dependent relationships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crypto data.</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Despite these advancements, existing systems still face challenges like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 computational cost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sensitivity to parameter tuning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limited interpretability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real-world financial application</a:t>
            </a:r>
          </a:p>
        </p:txBody>
      </p:sp>
      <p:sp>
        <p:nvSpPr>
          <p:cNvPr id="4" name="TextBox 3">
            <a:extLst>
              <a:ext uri="{FF2B5EF4-FFF2-40B4-BE49-F238E27FC236}">
                <a16:creationId xmlns:a16="http://schemas.microsoft.com/office/drawing/2014/main" id="{2DB2E879-29EE-1DD7-455A-2BC64AA83359}"/>
              </a:ext>
            </a:extLst>
          </p:cNvPr>
          <p:cNvSpPr txBox="1"/>
          <p:nvPr/>
        </p:nvSpPr>
        <p:spPr>
          <a:xfrm>
            <a:off x="789039" y="277450"/>
            <a:ext cx="6120580" cy="769441"/>
          </a:xfrm>
          <a:prstGeom prst="rect">
            <a:avLst/>
          </a:prstGeom>
          <a:noFill/>
        </p:spPr>
        <p:txBody>
          <a:bodyPr wrap="square">
            <a:spAutoFit/>
          </a:bodyPr>
          <a:lstStyle/>
          <a:p>
            <a:r>
              <a:rPr lang="en-IN" sz="4400" b="1" dirty="0"/>
              <a:t>Existing Solution:</a:t>
            </a:r>
          </a:p>
        </p:txBody>
      </p:sp>
    </p:spTree>
    <p:extLst>
      <p:ext uri="{BB962C8B-B14F-4D97-AF65-F5344CB8AC3E}">
        <p14:creationId xmlns:p14="http://schemas.microsoft.com/office/powerpoint/2010/main" val="22805058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C8EF4D0-C743-C4D9-2A5E-4D82447D69BF}"/>
              </a:ext>
            </a:extLst>
          </p:cNvPr>
          <p:cNvSpPr txBox="1"/>
          <p:nvPr/>
        </p:nvSpPr>
        <p:spPr>
          <a:xfrm>
            <a:off x="285135" y="58846"/>
            <a:ext cx="11602065" cy="5909310"/>
          </a:xfrm>
          <a:prstGeom prst="rect">
            <a:avLst/>
          </a:prstGeom>
          <a:noFill/>
        </p:spPr>
        <p:txBody>
          <a:bodyPr wrap="square">
            <a:spAutoFit/>
          </a:bodyPr>
          <a:lstStyle/>
          <a:p>
            <a:pPr>
              <a:buNone/>
            </a:pPr>
            <a:r>
              <a:rPr lang="en-US" sz="3600" b="1" dirty="0"/>
              <a:t>Proposed System:</a:t>
            </a:r>
          </a:p>
          <a:p>
            <a:pPr>
              <a:buNone/>
            </a:pPr>
            <a:endParaRPr lang="en-US" sz="3600" b="1" dirty="0"/>
          </a:p>
          <a:p>
            <a:pPr>
              <a:buNone/>
            </a:pPr>
            <a:endParaRPr lang="en-US" sz="3600" b="1" dirty="0"/>
          </a:p>
          <a:p>
            <a:pPr>
              <a:buFont typeface="Arial" panose="020B0604020202020204" pitchFamily="34" charset="0"/>
              <a:buChar char="•"/>
            </a:pPr>
            <a:r>
              <a:rPr lang="en-US" dirty="0"/>
              <a:t>The proposed system — </a:t>
            </a:r>
            <a:r>
              <a:rPr lang="en-US" b="1" dirty="0" err="1"/>
              <a:t>AlgoTrade</a:t>
            </a:r>
            <a:r>
              <a:rPr lang="en-US" b="1" dirty="0"/>
              <a:t> AI: </a:t>
            </a:r>
            <a:r>
              <a:rPr lang="en-US" b="1" dirty="0" err="1"/>
              <a:t>MarketPulse</a:t>
            </a:r>
            <a:r>
              <a:rPr lang="en-US" b="1" dirty="0"/>
              <a:t> Optimizer</a:t>
            </a:r>
            <a:r>
              <a:rPr lang="en-US" dirty="0"/>
              <a:t> — integrates </a:t>
            </a:r>
            <a:r>
              <a:rPr lang="en-US" b="1" dirty="0"/>
              <a:t>machine learning and deep learning</a:t>
            </a:r>
            <a:r>
              <a:rPr lang="en-US" dirty="0"/>
              <a:t> models for enhanced crypto market forecasting.</a:t>
            </a:r>
          </a:p>
          <a:p>
            <a:endParaRPr lang="en-US" dirty="0"/>
          </a:p>
          <a:p>
            <a:pPr>
              <a:buFont typeface="Arial" panose="020B0604020202020204" pitchFamily="34" charset="0"/>
              <a:buChar char="•"/>
            </a:pPr>
            <a:r>
              <a:rPr lang="en-US" dirty="0"/>
              <a:t>The system addresses limitations of traditional models by combining </a:t>
            </a:r>
            <a:r>
              <a:rPr lang="en-US" b="1" dirty="0"/>
              <a:t>tree-based algorithms</a:t>
            </a:r>
            <a:r>
              <a:rPr lang="en-US" dirty="0"/>
              <a:t> (</a:t>
            </a:r>
            <a:r>
              <a:rPr lang="en-US" dirty="0" err="1"/>
              <a:t>XGBoost</a:t>
            </a:r>
            <a:r>
              <a:rPr lang="en-US" dirty="0"/>
              <a:t>, Random Forest) with a </a:t>
            </a:r>
            <a:r>
              <a:rPr lang="en-US" b="1" dirty="0"/>
              <a:t>Long Short-Term Memory (LSTM)</a:t>
            </a:r>
            <a:r>
              <a:rPr lang="en-US" dirty="0"/>
              <a:t> network to capture both </a:t>
            </a:r>
            <a:r>
              <a:rPr lang="en-US" b="1" dirty="0"/>
              <a:t>non-linear relationships</a:t>
            </a:r>
            <a:r>
              <a:rPr lang="en-US" dirty="0"/>
              <a:t> and </a:t>
            </a:r>
            <a:r>
              <a:rPr lang="en-US" b="1" dirty="0"/>
              <a:t>temporal dependencies</a:t>
            </a:r>
            <a:r>
              <a:rPr lang="en-US" dirty="0"/>
              <a:t> in financial data.</a:t>
            </a:r>
          </a:p>
          <a:p>
            <a:endParaRPr lang="en-US" dirty="0"/>
          </a:p>
          <a:p>
            <a:pPr>
              <a:buFont typeface="Arial" panose="020B0604020202020204" pitchFamily="34" charset="0"/>
              <a:buChar char="•"/>
            </a:pPr>
            <a:r>
              <a:rPr lang="en-US" dirty="0"/>
              <a:t>It automatically </a:t>
            </a:r>
            <a:r>
              <a:rPr lang="en-US" b="1" dirty="0"/>
              <a:t>downloads or loads crypto data</a:t>
            </a:r>
            <a:r>
              <a:rPr lang="en-US" dirty="0"/>
              <a:t>, computes </a:t>
            </a:r>
            <a:r>
              <a:rPr lang="en-US" b="1" dirty="0"/>
              <a:t>technical indicators</a:t>
            </a:r>
            <a:r>
              <a:rPr lang="en-US" dirty="0"/>
              <a:t> (SMA, WMA, RSI, MACD, etc.), and converts them into </a:t>
            </a:r>
            <a:r>
              <a:rPr lang="en-US" b="1" dirty="0"/>
              <a:t>supervised learning datasets</a:t>
            </a:r>
            <a:r>
              <a:rPr lang="en-US" dirty="0"/>
              <a:t> for multi-day prediction.</a:t>
            </a:r>
          </a:p>
          <a:p>
            <a:endParaRPr lang="en-US" dirty="0"/>
          </a:p>
          <a:p>
            <a:pPr>
              <a:buFont typeface="Arial" panose="020B0604020202020204" pitchFamily="34" charset="0"/>
              <a:buChar char="•"/>
            </a:pPr>
            <a:r>
              <a:rPr lang="en-US" dirty="0"/>
              <a:t>Features are normalized using </a:t>
            </a:r>
            <a:r>
              <a:rPr lang="en-US" b="1" dirty="0"/>
              <a:t>Min–Max scaling</a:t>
            </a:r>
            <a:r>
              <a:rPr lang="en-US" dirty="0"/>
              <a:t>, ensuring stability and consistent learning across models.</a:t>
            </a:r>
          </a:p>
          <a:p>
            <a:endParaRPr lang="en-US" dirty="0"/>
          </a:p>
          <a:p>
            <a:pPr>
              <a:buFont typeface="Arial" panose="020B0604020202020204" pitchFamily="34" charset="0"/>
              <a:buChar char="•"/>
            </a:pPr>
            <a:r>
              <a:rPr lang="en-US" dirty="0"/>
              <a:t>The system evaluates performance using </a:t>
            </a:r>
            <a:r>
              <a:rPr lang="en-US" b="1" dirty="0"/>
              <a:t>MAE, MSE, RMSE, and DA (Direction Accuracy)</a:t>
            </a:r>
            <a:r>
              <a:rPr lang="en-US" dirty="0"/>
              <a:t>, and selects the best-performing model for </a:t>
            </a:r>
            <a:r>
              <a:rPr lang="en-US" dirty="0" err="1"/>
              <a:t>backtesting</a:t>
            </a:r>
            <a:r>
              <a:rPr lang="en-US" dirty="0"/>
              <a:t> and visualization.</a:t>
            </a:r>
          </a:p>
          <a:p>
            <a:endParaRPr lang="en-US" dirty="0"/>
          </a:p>
        </p:txBody>
      </p:sp>
    </p:spTree>
    <p:extLst>
      <p:ext uri="{BB962C8B-B14F-4D97-AF65-F5344CB8AC3E}">
        <p14:creationId xmlns:p14="http://schemas.microsoft.com/office/powerpoint/2010/main" val="37483806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1316E21-7ECD-0AA4-448F-469A0813C821}"/>
              </a:ext>
            </a:extLst>
          </p:cNvPr>
          <p:cNvSpPr txBox="1"/>
          <p:nvPr/>
        </p:nvSpPr>
        <p:spPr>
          <a:xfrm>
            <a:off x="1042219" y="2353410"/>
            <a:ext cx="9969910" cy="2308324"/>
          </a:xfrm>
          <a:prstGeom prst="rect">
            <a:avLst/>
          </a:prstGeom>
          <a:noFill/>
        </p:spPr>
        <p:txBody>
          <a:bodyPr wrap="square">
            <a:spAutoFit/>
          </a:bodyPr>
          <a:lstStyle/>
          <a:p>
            <a:pPr>
              <a:buFont typeface="Arial" panose="020B0604020202020204" pitchFamily="34" charset="0"/>
              <a:buChar char="•"/>
            </a:pPr>
            <a:r>
              <a:rPr lang="en-US" dirty="0"/>
              <a:t>A </a:t>
            </a:r>
            <a:r>
              <a:rPr lang="en-US" b="1" dirty="0"/>
              <a:t>simple </a:t>
            </a:r>
            <a:r>
              <a:rPr lang="en-US" b="1" dirty="0" err="1"/>
              <a:t>backtesting</a:t>
            </a:r>
            <a:r>
              <a:rPr lang="en-US" b="1" dirty="0"/>
              <a:t> module</a:t>
            </a:r>
            <a:r>
              <a:rPr lang="en-US" dirty="0"/>
              <a:t> evaluates profitability using predicted returns to simulate trading signals (Buy / Sell / Hold) with Long and Short positions and cumulative strategy returns.</a:t>
            </a:r>
          </a:p>
          <a:p>
            <a:pPr>
              <a:buFont typeface="Arial" panose="020B0604020202020204" pitchFamily="34" charset="0"/>
              <a:buChar char="•"/>
            </a:pPr>
            <a:endParaRPr lang="en-US" dirty="0"/>
          </a:p>
          <a:p>
            <a:pPr>
              <a:buFont typeface="Arial" panose="020B0604020202020204" pitchFamily="34" charset="0"/>
              <a:buChar char="•"/>
            </a:pPr>
            <a:r>
              <a:rPr lang="en-US" dirty="0"/>
              <a:t>Models are saved for real-time integration through </a:t>
            </a:r>
            <a:r>
              <a:rPr lang="en-US" b="1" dirty="0" err="1"/>
              <a:t>Streamlit</a:t>
            </a:r>
            <a:r>
              <a:rPr lang="en-US" dirty="0"/>
              <a:t>, enabling interactive dashboards for financial analysts and investors.</a:t>
            </a:r>
          </a:p>
          <a:p>
            <a:endParaRPr lang="en-US" dirty="0"/>
          </a:p>
          <a:p>
            <a:pPr>
              <a:buFont typeface="Arial" panose="020B0604020202020204" pitchFamily="34" charset="0"/>
              <a:buChar char="•"/>
            </a:pPr>
            <a:r>
              <a:rPr lang="en-US" dirty="0"/>
              <a:t>Overall, the solution provides an </a:t>
            </a:r>
            <a:r>
              <a:rPr lang="en-US" b="1" dirty="0"/>
              <a:t>intelligent, automated, and adaptive forecasting framework</a:t>
            </a:r>
            <a:r>
              <a:rPr lang="en-US" dirty="0"/>
              <a:t> capable of learning from market dynamics and improving decision-making accuracy.</a:t>
            </a:r>
          </a:p>
        </p:txBody>
      </p:sp>
    </p:spTree>
    <p:extLst>
      <p:ext uri="{BB962C8B-B14F-4D97-AF65-F5344CB8AC3E}">
        <p14:creationId xmlns:p14="http://schemas.microsoft.com/office/powerpoint/2010/main" val="5355119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C7137E5-5796-CFCA-30BC-9B6123913333}"/>
              </a:ext>
            </a:extLst>
          </p:cNvPr>
          <p:cNvSpPr txBox="1"/>
          <p:nvPr/>
        </p:nvSpPr>
        <p:spPr>
          <a:xfrm>
            <a:off x="957944" y="2864455"/>
            <a:ext cx="11007914" cy="2246769"/>
          </a:xfrm>
          <a:prstGeom prst="rect">
            <a:avLst/>
          </a:prstGeom>
          <a:noFill/>
        </p:spPr>
        <p:txBody>
          <a:bodyPr wrap="square">
            <a:spAutoFit/>
          </a:bodyPr>
          <a:lstStyle/>
          <a:p>
            <a:r>
              <a:rPr lang="en-IN" sz="2000" dirty="0"/>
              <a:t>| Model                    |     MAE      |    RMSE    | DA — Direction Accuracy (%) | Key Strength                                                          </a:t>
            </a:r>
          </a:p>
          <a:p>
            <a:r>
              <a:rPr lang="en-IN" sz="2000" dirty="0"/>
              <a:t>------------------------------------------------------------------------------------------------------------------------------------------|      </a:t>
            </a:r>
            <a:r>
              <a:rPr lang="en-IN" sz="2000" dirty="0" err="1"/>
              <a:t>XGBoost</a:t>
            </a:r>
            <a:r>
              <a:rPr lang="en-IN" sz="2000" dirty="0"/>
              <a:t>            |   0.0023    |   0.0041  |     58.3       | Fast, accurate, strong with tabular features     |</a:t>
            </a:r>
          </a:p>
          <a:p>
            <a:endParaRPr lang="en-IN" sz="2000" dirty="0"/>
          </a:p>
          <a:p>
            <a:r>
              <a:rPr lang="en-IN" sz="2000" dirty="0"/>
              <a:t>| Random Forest     |   0.0028    |   0.0048  |     1.45       | Stable ensemble learner                                      |</a:t>
            </a:r>
          </a:p>
          <a:p>
            <a:endParaRPr lang="en-IN" sz="2000" dirty="0"/>
          </a:p>
          <a:p>
            <a:r>
              <a:rPr lang="en-IN" sz="2000" dirty="0"/>
              <a:t>|       LSTM                |    0.0019   |    0.0035 |     0.85       | Best captures temporal dependencies              |</a:t>
            </a:r>
          </a:p>
        </p:txBody>
      </p:sp>
      <p:sp>
        <p:nvSpPr>
          <p:cNvPr id="5" name="TextBox 4">
            <a:extLst>
              <a:ext uri="{FF2B5EF4-FFF2-40B4-BE49-F238E27FC236}">
                <a16:creationId xmlns:a16="http://schemas.microsoft.com/office/drawing/2014/main" id="{AD5EB5ED-D156-4B5E-DE42-04721F207856}"/>
              </a:ext>
            </a:extLst>
          </p:cNvPr>
          <p:cNvSpPr txBox="1"/>
          <p:nvPr/>
        </p:nvSpPr>
        <p:spPr>
          <a:xfrm>
            <a:off x="957944" y="1739251"/>
            <a:ext cx="10013750" cy="923330"/>
          </a:xfrm>
          <a:prstGeom prst="rect">
            <a:avLst/>
          </a:prstGeom>
          <a:noFill/>
        </p:spPr>
        <p:txBody>
          <a:bodyPr wrap="square">
            <a:spAutoFit/>
          </a:bodyPr>
          <a:lstStyle/>
          <a:p>
            <a:r>
              <a:rPr lang="en-US" dirty="0"/>
              <a:t>The system was tested using 10 years of historical crypto data (2015–2025) from Yahoo </a:t>
            </a:r>
            <a:r>
              <a:rPr lang="en-US" dirty="0" err="1"/>
              <a:t>Finance.Three</a:t>
            </a:r>
            <a:r>
              <a:rPr lang="en-US" dirty="0"/>
              <a:t> models were evaluated — </a:t>
            </a:r>
            <a:r>
              <a:rPr lang="en-US" dirty="0" err="1"/>
              <a:t>XGBoost</a:t>
            </a:r>
            <a:r>
              <a:rPr lang="en-US" dirty="0"/>
              <a:t>, Random Forest, and LSTM — for 1-day-ahead return </a:t>
            </a:r>
            <a:r>
              <a:rPr lang="en-US" dirty="0" err="1"/>
              <a:t>prediction.Models</a:t>
            </a:r>
            <a:r>
              <a:rPr lang="en-US" dirty="0"/>
              <a:t> were compared using key metrics: MAE, MSE, RMSE, and DA (Direction Accuracy).</a:t>
            </a:r>
            <a:endParaRPr lang="en-IN" dirty="0"/>
          </a:p>
        </p:txBody>
      </p:sp>
      <p:sp>
        <p:nvSpPr>
          <p:cNvPr id="7" name="TextBox 6">
            <a:extLst>
              <a:ext uri="{FF2B5EF4-FFF2-40B4-BE49-F238E27FC236}">
                <a16:creationId xmlns:a16="http://schemas.microsoft.com/office/drawing/2014/main" id="{0F1B224F-CAFD-58BE-9066-7FC82E4FEC0B}"/>
              </a:ext>
            </a:extLst>
          </p:cNvPr>
          <p:cNvSpPr txBox="1"/>
          <p:nvPr/>
        </p:nvSpPr>
        <p:spPr>
          <a:xfrm>
            <a:off x="957944" y="739566"/>
            <a:ext cx="6096000" cy="707886"/>
          </a:xfrm>
          <a:prstGeom prst="rect">
            <a:avLst/>
          </a:prstGeom>
          <a:noFill/>
        </p:spPr>
        <p:txBody>
          <a:bodyPr wrap="square">
            <a:spAutoFit/>
          </a:bodyPr>
          <a:lstStyle/>
          <a:p>
            <a:r>
              <a:rPr lang="en-IN" sz="4000" b="1" dirty="0">
                <a:latin typeface="Times New Roman" panose="02020603050405020304" pitchFamily="18" charset="0"/>
                <a:cs typeface="Times New Roman" panose="02020603050405020304" pitchFamily="18" charset="0"/>
              </a:rPr>
              <a:t>Results: </a:t>
            </a:r>
          </a:p>
        </p:txBody>
      </p:sp>
    </p:spTree>
    <p:extLst>
      <p:ext uri="{BB962C8B-B14F-4D97-AF65-F5344CB8AC3E}">
        <p14:creationId xmlns:p14="http://schemas.microsoft.com/office/powerpoint/2010/main" val="16938958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D0F1E7-FB6A-7750-CA9E-D2F8C430FBF0}"/>
              </a:ext>
            </a:extLst>
          </p:cNvPr>
          <p:cNvSpPr txBox="1"/>
          <p:nvPr/>
        </p:nvSpPr>
        <p:spPr>
          <a:xfrm>
            <a:off x="731855" y="1186571"/>
            <a:ext cx="10728290" cy="4247317"/>
          </a:xfrm>
          <a:prstGeom prst="rect">
            <a:avLst/>
          </a:prstGeom>
          <a:noFill/>
        </p:spPr>
        <p:txBody>
          <a:bodyPr wrap="square">
            <a:spAutoFit/>
          </a:bodyPr>
          <a:lstStyle/>
          <a:p>
            <a:pPr>
              <a:buFont typeface="Arial" panose="020B0604020202020204" pitchFamily="34" charset="0"/>
              <a:buChar char="•"/>
            </a:pPr>
            <a:r>
              <a:rPr lang="en-US" dirty="0"/>
              <a:t>The </a:t>
            </a:r>
            <a:r>
              <a:rPr lang="en-US" b="1" dirty="0"/>
              <a:t>LSTM model achieved the lowest prediction error</a:t>
            </a:r>
            <a:r>
              <a:rPr lang="en-US" dirty="0"/>
              <a:t>, outperforming all tree-based methods in forecasting short-term price movement.</a:t>
            </a:r>
          </a:p>
          <a:p>
            <a:endParaRPr lang="en-US" dirty="0"/>
          </a:p>
          <a:p>
            <a:pPr>
              <a:buFont typeface="Arial" panose="020B0604020202020204" pitchFamily="34" charset="0"/>
              <a:buChar char="•"/>
            </a:pPr>
            <a:r>
              <a:rPr lang="en-US" b="1" dirty="0" err="1"/>
              <a:t>XGBoost</a:t>
            </a:r>
            <a:r>
              <a:rPr lang="en-US" dirty="0"/>
              <a:t> demonstrated strong performance with lower training time and was used for real-time prediction and </a:t>
            </a:r>
            <a:r>
              <a:rPr lang="en-US" dirty="0" err="1"/>
              <a:t>backtesting</a:t>
            </a:r>
            <a:r>
              <a:rPr lang="en-US" dirty="0"/>
              <a:t>.</a:t>
            </a:r>
          </a:p>
          <a:p>
            <a:endParaRPr lang="en-US" dirty="0"/>
          </a:p>
          <a:p>
            <a:pPr>
              <a:buFont typeface="Arial" panose="020B0604020202020204" pitchFamily="34" charset="0"/>
              <a:buChar char="•"/>
            </a:pPr>
            <a:r>
              <a:rPr lang="en-US" dirty="0"/>
              <a:t>The </a:t>
            </a:r>
            <a:r>
              <a:rPr lang="en-US" b="1" dirty="0" err="1"/>
              <a:t>backtesting</a:t>
            </a:r>
            <a:r>
              <a:rPr lang="en-US" b="1" dirty="0"/>
              <a:t> module</a:t>
            </a:r>
            <a:r>
              <a:rPr lang="en-US" dirty="0"/>
              <a:t> showed that the AI-driven trading strategy </a:t>
            </a:r>
            <a:r>
              <a:rPr lang="en-US" b="1" dirty="0"/>
              <a:t>outperformed the passive “buy-and-hold” approach</a:t>
            </a:r>
            <a:r>
              <a:rPr lang="en-US" dirty="0"/>
              <a:t>, achieving higher cumulative returns.</a:t>
            </a:r>
          </a:p>
          <a:p>
            <a:endParaRPr lang="en-US" dirty="0"/>
          </a:p>
          <a:p>
            <a:pPr>
              <a:buNone/>
            </a:pPr>
            <a:r>
              <a:rPr lang="en-US" dirty="0"/>
              <a:t> </a:t>
            </a:r>
            <a:r>
              <a:rPr lang="en-US" b="1" dirty="0"/>
              <a:t>Graphical Insights:</a:t>
            </a:r>
            <a:endParaRPr lang="en-US" dirty="0"/>
          </a:p>
          <a:p>
            <a:pPr>
              <a:buFont typeface="Arial" panose="020B0604020202020204" pitchFamily="34" charset="0"/>
              <a:buChar char="•"/>
            </a:pPr>
            <a:r>
              <a:rPr lang="en-US" b="1" dirty="0"/>
              <a:t>Actual vs. Predicted Prices:</a:t>
            </a:r>
            <a:r>
              <a:rPr lang="en-US" dirty="0"/>
              <a:t> LSTM curve closely follows real price movement.</a:t>
            </a:r>
          </a:p>
          <a:p>
            <a:endParaRPr lang="en-US" dirty="0"/>
          </a:p>
          <a:p>
            <a:pPr>
              <a:buFont typeface="Arial" panose="020B0604020202020204" pitchFamily="34" charset="0"/>
              <a:buChar char="•"/>
            </a:pPr>
            <a:r>
              <a:rPr lang="en-US" b="1" dirty="0"/>
              <a:t>Cumulative Returns:</a:t>
            </a:r>
            <a:r>
              <a:rPr lang="en-US" dirty="0"/>
              <a:t> The model-based strategy curve consistently exceeds the benchmark.</a:t>
            </a:r>
          </a:p>
          <a:p>
            <a:endParaRPr lang="en-US" dirty="0"/>
          </a:p>
          <a:p>
            <a:pPr>
              <a:buFont typeface="Arial" panose="020B0604020202020204" pitchFamily="34" charset="0"/>
              <a:buChar char="•"/>
            </a:pPr>
            <a:r>
              <a:rPr lang="en-US" b="1" dirty="0"/>
              <a:t>Error Distribution:</a:t>
            </a:r>
            <a:r>
              <a:rPr lang="en-US" dirty="0"/>
              <a:t> Most residuals near zero, confirming stable and accurate forecasting.</a:t>
            </a:r>
          </a:p>
        </p:txBody>
      </p:sp>
    </p:spTree>
    <p:extLst>
      <p:ext uri="{BB962C8B-B14F-4D97-AF65-F5344CB8AC3E}">
        <p14:creationId xmlns:p14="http://schemas.microsoft.com/office/powerpoint/2010/main" val="27522688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ECAD9A-1527-A746-DD5F-216BD3121756}"/>
              </a:ext>
            </a:extLst>
          </p:cNvPr>
          <p:cNvSpPr txBox="1"/>
          <p:nvPr/>
        </p:nvSpPr>
        <p:spPr>
          <a:xfrm>
            <a:off x="619433" y="588349"/>
            <a:ext cx="10540179" cy="5262979"/>
          </a:xfrm>
          <a:prstGeom prst="rect">
            <a:avLst/>
          </a:prstGeom>
          <a:noFill/>
        </p:spPr>
        <p:txBody>
          <a:bodyPr wrap="square">
            <a:spAutoFit/>
          </a:bodyPr>
          <a:lstStyle/>
          <a:p>
            <a:pPr>
              <a:buNone/>
            </a:pPr>
            <a:r>
              <a:rPr lang="en-US" sz="3600" b="1" dirty="0"/>
              <a:t>Conclusion:</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proposed </a:t>
            </a:r>
            <a:r>
              <a:rPr lang="en-US" sz="2000" b="1" dirty="0" err="1">
                <a:latin typeface="Times New Roman" panose="02020603050405020304" pitchFamily="18" charset="0"/>
                <a:cs typeface="Times New Roman" panose="02020603050405020304" pitchFamily="18" charset="0"/>
              </a:rPr>
              <a:t>AlgoTrade</a:t>
            </a:r>
            <a:r>
              <a:rPr lang="en-US" sz="2000" b="1" dirty="0">
                <a:latin typeface="Times New Roman" panose="02020603050405020304" pitchFamily="18" charset="0"/>
                <a:cs typeface="Times New Roman" panose="02020603050405020304" pitchFamily="18" charset="0"/>
              </a:rPr>
              <a:t> AI system</a:t>
            </a:r>
            <a:r>
              <a:rPr lang="en-US" sz="2000" dirty="0">
                <a:latin typeface="Times New Roman" panose="02020603050405020304" pitchFamily="18" charset="0"/>
                <a:cs typeface="Times New Roman" panose="02020603050405020304" pitchFamily="18" charset="0"/>
              </a:rPr>
              <a:t> successfully integrates </a:t>
            </a:r>
            <a:r>
              <a:rPr lang="en-US" sz="2000" b="1" dirty="0">
                <a:latin typeface="Times New Roman" panose="02020603050405020304" pitchFamily="18" charset="0"/>
                <a:cs typeface="Times New Roman" panose="02020603050405020304" pitchFamily="18" charset="0"/>
              </a:rPr>
              <a:t>machine learning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XGBoost</a:t>
            </a:r>
            <a:r>
              <a:rPr lang="en-US" sz="2000" dirty="0">
                <a:latin typeface="Times New Roman" panose="02020603050405020304" pitchFamily="18" charset="0"/>
                <a:cs typeface="Times New Roman" panose="02020603050405020304" pitchFamily="18" charset="0"/>
              </a:rPr>
              <a:t>, Random Forest) and </a:t>
            </a:r>
            <a:r>
              <a:rPr lang="en-US" sz="2000" b="1" dirty="0">
                <a:latin typeface="Times New Roman" panose="02020603050405020304" pitchFamily="18" charset="0"/>
                <a:cs typeface="Times New Roman" panose="02020603050405020304" pitchFamily="18" charset="0"/>
              </a:rPr>
              <a:t>deep learning</a:t>
            </a:r>
            <a:r>
              <a:rPr lang="en-US" sz="2000" dirty="0">
                <a:latin typeface="Times New Roman" panose="02020603050405020304" pitchFamily="18" charset="0"/>
                <a:cs typeface="Times New Roman" panose="02020603050405020304" pitchFamily="18" charset="0"/>
              </a:rPr>
              <a:t> (LSTM) models to predict crypto market trends with higher accuracy and reliability.</a:t>
            </a:r>
          </a:p>
          <a:p>
            <a:endParaRPr 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Results demonstrate that </a:t>
            </a:r>
            <a:r>
              <a:rPr lang="en-US" sz="2000" b="1" dirty="0">
                <a:latin typeface="Times New Roman" panose="02020603050405020304" pitchFamily="18" charset="0"/>
                <a:cs typeface="Times New Roman" panose="02020603050405020304" pitchFamily="18" charset="0"/>
              </a:rPr>
              <a:t>LSTM</a:t>
            </a:r>
            <a:r>
              <a:rPr lang="en-US" sz="2000" dirty="0">
                <a:latin typeface="Times New Roman" panose="02020603050405020304" pitchFamily="18" charset="0"/>
                <a:cs typeface="Times New Roman" panose="02020603050405020304" pitchFamily="18" charset="0"/>
              </a:rPr>
              <a:t> achieved the </a:t>
            </a:r>
            <a:r>
              <a:rPr lang="en-US" sz="2000" b="1" dirty="0">
                <a:latin typeface="Times New Roman" panose="02020603050405020304" pitchFamily="18" charset="0"/>
                <a:cs typeface="Times New Roman" panose="02020603050405020304" pitchFamily="18" charset="0"/>
              </a:rPr>
              <a:t>strong directional accuracy (DA (Direction Accuracy) ≈ 0.85%)</a:t>
            </a:r>
            <a:r>
              <a:rPr lang="en-US" sz="2000" dirty="0">
                <a:latin typeface="Times New Roman" panose="02020603050405020304" pitchFamily="18" charset="0"/>
                <a:cs typeface="Times New Roman" panose="02020603050405020304" pitchFamily="18" charset="0"/>
              </a:rPr>
              <a:t>, effectively capturing </a:t>
            </a:r>
            <a:r>
              <a:rPr lang="en-US" sz="2000" b="1" dirty="0">
                <a:latin typeface="Times New Roman" panose="02020603050405020304" pitchFamily="18" charset="0"/>
                <a:cs typeface="Times New Roman" panose="02020603050405020304" pitchFamily="18" charset="0"/>
              </a:rPr>
              <a:t>temporal dependencies</a:t>
            </a:r>
            <a:r>
              <a:rPr lang="en-US" sz="2000" dirty="0">
                <a:latin typeface="Times New Roman" panose="02020603050405020304" pitchFamily="18" charset="0"/>
                <a:cs typeface="Times New Roman" panose="02020603050405020304" pitchFamily="18" charset="0"/>
              </a:rPr>
              <a:t> in financial data.</a:t>
            </a:r>
          </a:p>
          <a:p>
            <a:endParaRPr 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hybrid framework</a:t>
            </a:r>
            <a:r>
              <a:rPr lang="en-US" sz="2000" dirty="0">
                <a:latin typeface="Times New Roman" panose="02020603050405020304" pitchFamily="18" charset="0"/>
                <a:cs typeface="Times New Roman" panose="02020603050405020304" pitchFamily="18" charset="0"/>
              </a:rPr>
              <a:t> overcomes limitations of traditional statistical methods by learning </a:t>
            </a:r>
            <a:r>
              <a:rPr lang="en-US" sz="2000" b="1" dirty="0">
                <a:latin typeface="Times New Roman" panose="02020603050405020304" pitchFamily="18" charset="0"/>
                <a:cs typeface="Times New Roman" panose="02020603050405020304" pitchFamily="18" charset="0"/>
              </a:rPr>
              <a:t>non-linear and time-series patterns</a:t>
            </a:r>
            <a:r>
              <a:rPr lang="en-US" sz="2000" dirty="0">
                <a:latin typeface="Times New Roman" panose="02020603050405020304" pitchFamily="18" charset="0"/>
                <a:cs typeface="Times New Roman" panose="02020603050405020304" pitchFamily="18" charset="0"/>
              </a:rPr>
              <a:t> from multiple technical indicators.</a:t>
            </a:r>
          </a:p>
          <a:p>
            <a:endParaRPr 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inclusion of </a:t>
            </a:r>
            <a:r>
              <a:rPr lang="en-US" sz="2000" b="1" dirty="0" err="1">
                <a:latin typeface="Times New Roman" panose="02020603050405020304" pitchFamily="18" charset="0"/>
                <a:cs typeface="Times New Roman" panose="02020603050405020304" pitchFamily="18" charset="0"/>
              </a:rPr>
              <a:t>backtesting</a:t>
            </a:r>
            <a:r>
              <a:rPr lang="en-US" sz="2000" b="1" dirty="0">
                <a:latin typeface="Times New Roman" panose="02020603050405020304" pitchFamily="18" charset="0"/>
                <a:cs typeface="Times New Roman" panose="02020603050405020304" pitchFamily="18" charset="0"/>
              </a:rPr>
              <a:t> and visualization modules</a:t>
            </a:r>
            <a:r>
              <a:rPr lang="en-US" sz="2000" dirty="0">
                <a:latin typeface="Times New Roman" panose="02020603050405020304" pitchFamily="18" charset="0"/>
                <a:cs typeface="Times New Roman" panose="02020603050405020304" pitchFamily="18" charset="0"/>
              </a:rPr>
              <a:t> validates the profitability and practical utility of the model in real-world trading scenarios.</a:t>
            </a:r>
          </a:p>
          <a:p>
            <a:endParaRPr 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Overall, the system proves that </a:t>
            </a:r>
            <a:r>
              <a:rPr lang="en-US" sz="2000" b="1" dirty="0">
                <a:latin typeface="Times New Roman" panose="02020603050405020304" pitchFamily="18" charset="0"/>
                <a:cs typeface="Times New Roman" panose="02020603050405020304" pitchFamily="18" charset="0"/>
              </a:rPr>
              <a:t>AI-based predictive modeling</a:t>
            </a:r>
            <a:r>
              <a:rPr lang="en-US" sz="2000" dirty="0">
                <a:latin typeface="Times New Roman" panose="02020603050405020304" pitchFamily="18" charset="0"/>
                <a:cs typeface="Times New Roman" panose="02020603050405020304" pitchFamily="18" charset="0"/>
              </a:rPr>
              <a:t> can significantly improve </a:t>
            </a:r>
            <a:r>
              <a:rPr lang="en-US" sz="2000" b="1" dirty="0">
                <a:latin typeface="Times New Roman" panose="02020603050405020304" pitchFamily="18" charset="0"/>
                <a:cs typeface="Times New Roman" panose="02020603050405020304" pitchFamily="18" charset="0"/>
              </a:rPr>
              <a:t>decision-making efficiency</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risk management</a:t>
            </a:r>
            <a:r>
              <a:rPr lang="en-US" sz="2000" dirty="0">
                <a:latin typeface="Times New Roman" panose="02020603050405020304" pitchFamily="18" charset="0"/>
                <a:cs typeface="Times New Roman" panose="02020603050405020304" pitchFamily="18" charset="0"/>
              </a:rPr>
              <a:t> in financial markets.</a:t>
            </a:r>
          </a:p>
        </p:txBody>
      </p:sp>
    </p:spTree>
    <p:extLst>
      <p:ext uri="{BB962C8B-B14F-4D97-AF65-F5344CB8AC3E}">
        <p14:creationId xmlns:p14="http://schemas.microsoft.com/office/powerpoint/2010/main" val="23356858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2FD42E9-0614-EC52-16F5-D60539BFC530}"/>
              </a:ext>
            </a:extLst>
          </p:cNvPr>
          <p:cNvSpPr txBox="1"/>
          <p:nvPr/>
        </p:nvSpPr>
        <p:spPr>
          <a:xfrm>
            <a:off x="530942" y="412955"/>
            <a:ext cx="10461523" cy="5816977"/>
          </a:xfrm>
          <a:prstGeom prst="rect">
            <a:avLst/>
          </a:prstGeom>
          <a:noFill/>
        </p:spPr>
        <p:txBody>
          <a:bodyPr wrap="square">
            <a:spAutoFit/>
          </a:bodyPr>
          <a:lstStyle/>
          <a:p>
            <a:pPr>
              <a:buNone/>
            </a:pPr>
            <a:r>
              <a:rPr lang="en-US" sz="3600" b="1" dirty="0">
                <a:latin typeface="Times New Roman" panose="02020603050405020304" pitchFamily="18" charset="0"/>
                <a:cs typeface="Times New Roman" panose="02020603050405020304" pitchFamily="18" charset="0"/>
              </a:rPr>
              <a:t>Future Scope:</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Integration of </a:t>
            </a:r>
            <a:r>
              <a:rPr lang="en-US" sz="2400" b="1" dirty="0">
                <a:latin typeface="Times New Roman" panose="02020603050405020304" pitchFamily="18" charset="0"/>
                <a:cs typeface="Times New Roman" panose="02020603050405020304" pitchFamily="18" charset="0"/>
              </a:rPr>
              <a:t>real-time data streaming</a:t>
            </a:r>
            <a:r>
              <a:rPr lang="en-US" sz="2400" dirty="0">
                <a:latin typeface="Times New Roman" panose="02020603050405020304" pitchFamily="18" charset="0"/>
                <a:cs typeface="Times New Roman" panose="02020603050405020304" pitchFamily="18" charset="0"/>
              </a:rPr>
              <a:t> and </a:t>
            </a:r>
            <a:r>
              <a:rPr lang="en-US" sz="2400" b="1" dirty="0">
                <a:latin typeface="Times New Roman" panose="02020603050405020304" pitchFamily="18" charset="0"/>
                <a:cs typeface="Times New Roman" panose="02020603050405020304" pitchFamily="18" charset="0"/>
              </a:rPr>
              <a:t>live trading APIs</a:t>
            </a:r>
            <a:r>
              <a:rPr lang="en-US" sz="2400" dirty="0">
                <a:latin typeface="Times New Roman" panose="02020603050405020304" pitchFamily="18" charset="0"/>
                <a:cs typeface="Times New Roman" panose="02020603050405020304" pitchFamily="18" charset="0"/>
              </a:rPr>
              <a:t> (e.g., </a:t>
            </a:r>
            <a:r>
              <a:rPr lang="en-US" sz="2400" dirty="0" err="1">
                <a:latin typeface="Times New Roman" panose="02020603050405020304" pitchFamily="18" charset="0"/>
                <a:cs typeface="Times New Roman" panose="02020603050405020304" pitchFamily="18" charset="0"/>
              </a:rPr>
              <a:t>Zerodha</a:t>
            </a:r>
            <a:r>
              <a:rPr lang="en-US" sz="2400" dirty="0">
                <a:latin typeface="Times New Roman" panose="02020603050405020304" pitchFamily="18" charset="0"/>
                <a:cs typeface="Times New Roman" panose="02020603050405020304" pitchFamily="18" charset="0"/>
              </a:rPr>
              <a:t>, Alpaca) for automated execution.</a:t>
            </a:r>
          </a:p>
          <a:p>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Implementation of </a:t>
            </a:r>
            <a:r>
              <a:rPr lang="en-US" sz="2400" b="1" dirty="0">
                <a:latin typeface="Times New Roman" panose="02020603050405020304" pitchFamily="18" charset="0"/>
                <a:cs typeface="Times New Roman" panose="02020603050405020304" pitchFamily="18" charset="0"/>
              </a:rPr>
              <a:t>hybrid ensemble models</a:t>
            </a:r>
            <a:r>
              <a:rPr lang="en-US" sz="2400" dirty="0">
                <a:latin typeface="Times New Roman" panose="02020603050405020304" pitchFamily="18" charset="0"/>
                <a:cs typeface="Times New Roman" panose="02020603050405020304" pitchFamily="18" charset="0"/>
              </a:rPr>
              <a:t> combining </a:t>
            </a:r>
            <a:r>
              <a:rPr lang="en-US" sz="2400" b="1" dirty="0">
                <a:latin typeface="Times New Roman" panose="02020603050405020304" pitchFamily="18" charset="0"/>
                <a:cs typeface="Times New Roman" panose="02020603050405020304" pitchFamily="18" charset="0"/>
              </a:rPr>
              <a:t>LSTM with attention or transformer-based architectures</a:t>
            </a:r>
            <a:r>
              <a:rPr lang="en-US" sz="2400" dirty="0">
                <a:latin typeface="Times New Roman" panose="02020603050405020304" pitchFamily="18" charset="0"/>
                <a:cs typeface="Times New Roman" panose="02020603050405020304" pitchFamily="18" charset="0"/>
              </a:rPr>
              <a:t> to enhance long-term trend prediction.</a:t>
            </a:r>
          </a:p>
          <a:p>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Inclusion of </a:t>
            </a:r>
            <a:r>
              <a:rPr lang="en-US" sz="2400" b="1" dirty="0">
                <a:latin typeface="Times New Roman" panose="02020603050405020304" pitchFamily="18" charset="0"/>
                <a:cs typeface="Times New Roman" panose="02020603050405020304" pitchFamily="18" charset="0"/>
              </a:rPr>
              <a:t>news sentiment and social media analytics</a:t>
            </a:r>
            <a:r>
              <a:rPr lang="en-US" sz="2400" dirty="0">
                <a:latin typeface="Times New Roman" panose="02020603050405020304" pitchFamily="18" charset="0"/>
                <a:cs typeface="Times New Roman" panose="02020603050405020304" pitchFamily="18" charset="0"/>
              </a:rPr>
              <a:t> to capture market psychology.</a:t>
            </a:r>
          </a:p>
          <a:p>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Deployment of the system as a </a:t>
            </a:r>
            <a:r>
              <a:rPr lang="en-US" sz="2400" b="1" dirty="0">
                <a:latin typeface="Times New Roman" panose="02020603050405020304" pitchFamily="18" charset="0"/>
                <a:cs typeface="Times New Roman" panose="02020603050405020304" pitchFamily="18" charset="0"/>
              </a:rPr>
              <a:t>web-based or mobile application</a:t>
            </a:r>
            <a:r>
              <a:rPr lang="en-US" sz="2400" dirty="0">
                <a:latin typeface="Times New Roman" panose="02020603050405020304" pitchFamily="18" charset="0"/>
                <a:cs typeface="Times New Roman" panose="02020603050405020304" pitchFamily="18" charset="0"/>
              </a:rPr>
              <a:t> for traders and analysts.</a:t>
            </a:r>
          </a:p>
          <a:p>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Extension to </a:t>
            </a:r>
            <a:r>
              <a:rPr lang="en-US" sz="2400" b="1" dirty="0">
                <a:latin typeface="Times New Roman" panose="02020603050405020304" pitchFamily="18" charset="0"/>
                <a:cs typeface="Times New Roman" panose="02020603050405020304" pitchFamily="18" charset="0"/>
              </a:rPr>
              <a:t>multi-asset forecasting</a:t>
            </a:r>
            <a:r>
              <a:rPr lang="en-US" sz="2400" dirty="0">
                <a:latin typeface="Times New Roman" panose="02020603050405020304" pitchFamily="18" charset="0"/>
                <a:cs typeface="Times New Roman" panose="02020603050405020304" pitchFamily="18" charset="0"/>
              </a:rPr>
              <a:t> (commodities, cryptocurrencies, forex) and </a:t>
            </a:r>
            <a:r>
              <a:rPr lang="en-US" sz="2400" b="1" dirty="0">
                <a:latin typeface="Times New Roman" panose="02020603050405020304" pitchFamily="18" charset="0"/>
                <a:cs typeface="Times New Roman" panose="02020603050405020304" pitchFamily="18" charset="0"/>
              </a:rPr>
              <a:t>portfolio optimization</a:t>
            </a:r>
            <a:r>
              <a:rPr lang="en-US"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9376723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0600285-8E4F-4549-702E-4D005A4DDC33}"/>
              </a:ext>
            </a:extLst>
          </p:cNvPr>
          <p:cNvSpPr txBox="1"/>
          <p:nvPr/>
        </p:nvSpPr>
        <p:spPr>
          <a:xfrm>
            <a:off x="560439" y="395437"/>
            <a:ext cx="6096000" cy="584775"/>
          </a:xfrm>
          <a:prstGeom prst="rect">
            <a:avLst/>
          </a:prstGeom>
          <a:noFill/>
        </p:spPr>
        <p:txBody>
          <a:bodyPr wrap="square">
            <a:spAutoFit/>
          </a:bodyPr>
          <a:lstStyle/>
          <a:p>
            <a:r>
              <a:rPr lang="en-IN" sz="3200" b="1" dirty="0"/>
              <a:t>References: </a:t>
            </a:r>
          </a:p>
        </p:txBody>
      </p:sp>
      <p:sp>
        <p:nvSpPr>
          <p:cNvPr id="5" name="TextBox 4">
            <a:extLst>
              <a:ext uri="{FF2B5EF4-FFF2-40B4-BE49-F238E27FC236}">
                <a16:creationId xmlns:a16="http://schemas.microsoft.com/office/drawing/2014/main" id="{22032A4D-D4DA-BEF4-F7BE-C018BE7A7F20}"/>
              </a:ext>
            </a:extLst>
          </p:cNvPr>
          <p:cNvSpPr txBox="1"/>
          <p:nvPr/>
        </p:nvSpPr>
        <p:spPr>
          <a:xfrm>
            <a:off x="329380" y="1373319"/>
            <a:ext cx="11729884" cy="4801314"/>
          </a:xfrm>
          <a:prstGeom prst="rect">
            <a:avLst/>
          </a:prstGeom>
          <a:noFill/>
        </p:spPr>
        <p:txBody>
          <a:bodyPr wrap="square">
            <a:spAutoFit/>
          </a:bodyPr>
          <a:lstStyle/>
          <a:p>
            <a:r>
              <a:rPr lang="en-IN" dirty="0"/>
              <a:t>M. </a:t>
            </a:r>
            <a:r>
              <a:rPr lang="en-IN" dirty="0" err="1"/>
              <a:t>Nabipour</a:t>
            </a:r>
            <a:r>
              <a:rPr lang="en-IN" dirty="0"/>
              <a:t>, P. </a:t>
            </a:r>
            <a:r>
              <a:rPr lang="en-IN" dirty="0" err="1"/>
              <a:t>Nayyeri</a:t>
            </a:r>
            <a:r>
              <a:rPr lang="en-IN" dirty="0"/>
              <a:t>, H. </a:t>
            </a:r>
            <a:r>
              <a:rPr lang="en-IN" dirty="0" err="1"/>
              <a:t>Jabani</a:t>
            </a:r>
            <a:r>
              <a:rPr lang="en-IN" dirty="0"/>
              <a:t>, A. </a:t>
            </a:r>
            <a:r>
              <a:rPr lang="en-IN" dirty="0" err="1"/>
              <a:t>Mosavi</a:t>
            </a:r>
            <a:r>
              <a:rPr lang="en-IN" dirty="0"/>
              <a:t>, E. </a:t>
            </a:r>
            <a:r>
              <a:rPr lang="en-IN" dirty="0" err="1"/>
              <a:t>Salwana</a:t>
            </a:r>
            <a:r>
              <a:rPr lang="en-IN" dirty="0"/>
              <a:t>, and S. S. </a:t>
            </a:r>
            <a:r>
              <a:rPr lang="en-IN" dirty="0" err="1"/>
              <a:t>Shamshirband</a:t>
            </a:r>
            <a:r>
              <a:rPr lang="en-IN" dirty="0"/>
              <a:t>,“Deep Learning for Stock Market Prediction,” Entropy, vol. 22, no. 8, p. 840, 2020.DOI: 10.3390/e22080840</a:t>
            </a:r>
          </a:p>
          <a:p>
            <a:endParaRPr lang="en-IN" dirty="0"/>
          </a:p>
          <a:p>
            <a:r>
              <a:rPr lang="en-IN" dirty="0"/>
              <a:t>Chen, K., Zhou, Y., &amp; Dai, F.“A LSTM-Based Method for Stock Returns Prediction: A Case Study of China Stock </a:t>
            </a:r>
            <a:r>
              <a:rPr lang="en-IN" dirty="0" err="1"/>
              <a:t>Market,”IEEE</a:t>
            </a:r>
            <a:r>
              <a:rPr lang="en-IN" dirty="0"/>
              <a:t> International Conference on Big Data (Big Data), 2015.</a:t>
            </a:r>
          </a:p>
          <a:p>
            <a:endParaRPr lang="en-IN" dirty="0"/>
          </a:p>
          <a:p>
            <a:r>
              <a:rPr lang="en-IN" dirty="0"/>
              <a:t>Zhong, X., &amp; Enke, </a:t>
            </a:r>
            <a:r>
              <a:rPr lang="en-IN" dirty="0" err="1"/>
              <a:t>D.“Predicting</a:t>
            </a:r>
            <a:r>
              <a:rPr lang="en-IN" dirty="0"/>
              <a:t> the Daily Return Direction of the Stock Market Using Hybrid Machine Learning </a:t>
            </a:r>
            <a:r>
              <a:rPr lang="en-IN" dirty="0" err="1"/>
              <a:t>Algorithms,”Financial</a:t>
            </a:r>
            <a:r>
              <a:rPr lang="en-IN" dirty="0"/>
              <a:t> Innovation, 5(1), 2019.</a:t>
            </a:r>
          </a:p>
          <a:p>
            <a:endParaRPr lang="en-IN" dirty="0"/>
          </a:p>
          <a:p>
            <a:r>
              <a:rPr lang="en-IN" dirty="0"/>
              <a:t>Chong, E., Han, C., &amp; Park, F. </a:t>
            </a:r>
            <a:r>
              <a:rPr lang="en-IN" dirty="0" err="1"/>
              <a:t>C.“Deep</a:t>
            </a:r>
            <a:r>
              <a:rPr lang="en-IN" dirty="0"/>
              <a:t> Learning Networks for Stock Market Analysis and Prediction: Methodology, Data Representations, and Case </a:t>
            </a:r>
            <a:r>
              <a:rPr lang="en-IN" dirty="0" err="1"/>
              <a:t>Studies,”Expert</a:t>
            </a:r>
            <a:r>
              <a:rPr lang="en-IN" dirty="0"/>
              <a:t> Systems with Applications, 83, 2017, pp. 187–205.</a:t>
            </a:r>
          </a:p>
          <a:p>
            <a:endParaRPr lang="en-IN" dirty="0"/>
          </a:p>
          <a:p>
            <a:r>
              <a:rPr lang="en-IN" dirty="0" err="1"/>
              <a:t>Bouktif</a:t>
            </a:r>
            <a:r>
              <a:rPr lang="en-IN" dirty="0"/>
              <a:t>, S., Fiaz, A., Ouni, A., &amp; </a:t>
            </a:r>
            <a:r>
              <a:rPr lang="en-IN" dirty="0" err="1"/>
              <a:t>Serhani</a:t>
            </a:r>
            <a:r>
              <a:rPr lang="en-IN" dirty="0"/>
              <a:t>, M. </a:t>
            </a:r>
            <a:r>
              <a:rPr lang="en-IN" dirty="0" err="1"/>
              <a:t>A.“Optimal</a:t>
            </a:r>
            <a:r>
              <a:rPr lang="en-IN" dirty="0"/>
              <a:t> Deep Learning LSTM Model for Electric Load Forecasting Using Feature Selection and Genetic Algorithm: Comparison with Machine Learning </a:t>
            </a:r>
            <a:r>
              <a:rPr lang="en-IN" dirty="0" err="1"/>
              <a:t>Approaches,”Energies</a:t>
            </a:r>
            <a:r>
              <a:rPr lang="en-IN" dirty="0"/>
              <a:t>, 11(7), 2018.</a:t>
            </a:r>
          </a:p>
          <a:p>
            <a:endParaRPr lang="en-IN" dirty="0"/>
          </a:p>
          <a:p>
            <a:r>
              <a:rPr lang="en-IN" dirty="0" err="1"/>
              <a:t>AlgoTrade</a:t>
            </a:r>
            <a:r>
              <a:rPr lang="en-IN" dirty="0"/>
              <a:t> AI — </a:t>
            </a:r>
            <a:r>
              <a:rPr lang="en-IN" dirty="0" err="1"/>
              <a:t>MarketPulse</a:t>
            </a:r>
            <a:r>
              <a:rPr lang="en-IN" dirty="0"/>
              <a:t> Optimizer (Python Implementation),Developed using Python, TensorFlow, </a:t>
            </a:r>
            <a:r>
              <a:rPr lang="en-IN" dirty="0" err="1"/>
              <a:t>XGBoost</a:t>
            </a:r>
            <a:r>
              <a:rPr lang="en-IN" dirty="0"/>
              <a:t>, scikit-learn, and </a:t>
            </a:r>
            <a:r>
              <a:rPr lang="en-IN" dirty="0" err="1"/>
              <a:t>Streamlit,by</a:t>
            </a:r>
            <a:r>
              <a:rPr lang="en-IN" dirty="0"/>
              <a:t> Chava Srinivasa Sai &amp; Team, 2025.</a:t>
            </a:r>
          </a:p>
        </p:txBody>
      </p:sp>
    </p:spTree>
    <p:extLst>
      <p:ext uri="{BB962C8B-B14F-4D97-AF65-F5344CB8AC3E}">
        <p14:creationId xmlns:p14="http://schemas.microsoft.com/office/powerpoint/2010/main" val="22147910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TotalTime>
  <Words>2800</Words>
  <Application>Microsoft Office PowerPoint</Application>
  <PresentationFormat>Widescreen</PresentationFormat>
  <Paragraphs>203</Paragraphs>
  <Slides>25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Calibri</vt:lpstr>
      <vt:lpstr>Calibri Light</vt:lpstr>
      <vt:lpstr>Segoe UI</vt:lpstr>
      <vt:lpstr>Times New Roman</vt:lpstr>
      <vt:lpstr>Office Theme</vt:lpstr>
      <vt:lpstr>FinTech AI: Algorithmic Trading Strategy Optimization</vt:lpstr>
      <vt:lpstr>PowerPoint Presentation</vt:lpstr>
      <vt:lpstr>Abstract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Jigeesha S</dc:creator>
  <cp:lastModifiedBy>Jigeesha S</cp:lastModifiedBy>
  <cp:revision>5</cp:revision>
  <dcterms:created xsi:type="dcterms:W3CDTF">2025-10-11T12:44:35Z</dcterms:created>
  <dcterms:modified xsi:type="dcterms:W3CDTF">2025-10-13T04:57:40Z</dcterms:modified>
</cp:coreProperties>
</file>